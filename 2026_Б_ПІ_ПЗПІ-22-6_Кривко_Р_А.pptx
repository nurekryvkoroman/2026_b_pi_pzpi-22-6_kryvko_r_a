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</p:sldIdLst>
  <p:sldSz cy="5143500" cx="9144000"/>
  <p:notesSz cx="5143500" cy="9144000"/>
  <p:embeddedFontLst>
    <p:embeddedFont>
      <p:font typeface="Economica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7" roundtripDataSignature="AMtx7miVfR5PocjD7NaTcUffRjRr3VHtd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font" Target="fonts/Economica-bold.fntdata"/><Relationship Id="rId23" Type="http://schemas.openxmlformats.org/officeDocument/2006/relationships/font" Target="fonts/Economica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Economica-boldItalic.fntdata"/><Relationship Id="rId25" Type="http://schemas.openxmlformats.org/officeDocument/2006/relationships/font" Target="fonts/Economica-italic.fntdata"/><Relationship Id="rId27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22885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2913063" y="0"/>
            <a:ext cx="222885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-17145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22885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:notes"/>
          <p:cNvSpPr/>
          <p:nvPr>
            <p:ph idx="2" type="sldImg"/>
          </p:nvPr>
        </p:nvSpPr>
        <p:spPr>
          <a:xfrm>
            <a:off x="-17145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" name="Google Shape;18;p1:notes"/>
          <p:cNvSpPr txBox="1"/>
          <p:nvPr>
            <p:ph idx="1" type="body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" name="Google Shape;19;p1:notes"/>
          <p:cNvSpPr txBox="1"/>
          <p:nvPr>
            <p:ph idx="12" type="sldNum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g3f4358d70bb_0_7:notes"/>
          <p:cNvSpPr/>
          <p:nvPr>
            <p:ph idx="2" type="sldImg"/>
          </p:nvPr>
        </p:nvSpPr>
        <p:spPr>
          <a:xfrm>
            <a:off x="28575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" name="Google Shape;28;g3f4358d70bb_0_7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3f4358d70bb_0_85:notes"/>
          <p:cNvSpPr/>
          <p:nvPr>
            <p:ph idx="2" type="sldImg"/>
          </p:nvPr>
        </p:nvSpPr>
        <p:spPr>
          <a:xfrm>
            <a:off x="28575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" name="Google Shape;48;g3f4358d70bb_0_85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f4358d70bb_0_108:notes"/>
          <p:cNvSpPr/>
          <p:nvPr>
            <p:ph idx="2" type="sldImg"/>
          </p:nvPr>
        </p:nvSpPr>
        <p:spPr>
          <a:xfrm>
            <a:off x="28575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g3f4358d70bb_0_108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f4358d70bb_0_134:notes"/>
          <p:cNvSpPr/>
          <p:nvPr>
            <p:ph idx="2" type="sldImg"/>
          </p:nvPr>
        </p:nvSpPr>
        <p:spPr>
          <a:xfrm>
            <a:off x="28575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g3f4358d70bb_0_134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f4358d70bb_0_164:notes"/>
          <p:cNvSpPr/>
          <p:nvPr>
            <p:ph idx="2" type="sldImg"/>
          </p:nvPr>
        </p:nvSpPr>
        <p:spPr>
          <a:xfrm>
            <a:off x="28575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g3f4358d70bb_0_164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f4358d70bb_0_175:notes"/>
          <p:cNvSpPr/>
          <p:nvPr>
            <p:ph idx="2" type="sldImg"/>
          </p:nvPr>
        </p:nvSpPr>
        <p:spPr>
          <a:xfrm>
            <a:off x="28575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g3f4358d70bb_0_175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f4358d70bb_0_183:notes"/>
          <p:cNvSpPr/>
          <p:nvPr>
            <p:ph idx="2" type="sldImg"/>
          </p:nvPr>
        </p:nvSpPr>
        <p:spPr>
          <a:xfrm>
            <a:off x="28575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g3f4358d70bb_0_183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f4358d70bb_0_200:notes"/>
          <p:cNvSpPr/>
          <p:nvPr>
            <p:ph idx="2" type="sldImg"/>
          </p:nvPr>
        </p:nvSpPr>
        <p:spPr>
          <a:xfrm>
            <a:off x="28575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g3f4358d70bb_0_200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9:notes"/>
          <p:cNvSpPr/>
          <p:nvPr>
            <p:ph idx="2" type="sldImg"/>
          </p:nvPr>
        </p:nvSpPr>
        <p:spPr>
          <a:xfrm>
            <a:off x="-17145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p9:notes"/>
          <p:cNvSpPr txBox="1"/>
          <p:nvPr>
            <p:ph idx="1" type="body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2" name="Google Shape;182;p9:notes"/>
          <p:cNvSpPr txBox="1"/>
          <p:nvPr>
            <p:ph idx="12" type="sldNum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f4358d70bb_0_270:notes"/>
          <p:cNvSpPr/>
          <p:nvPr>
            <p:ph idx="2" type="sldImg"/>
          </p:nvPr>
        </p:nvSpPr>
        <p:spPr>
          <a:xfrm>
            <a:off x="28575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9" name="Google Shape;189;g3f4358d70bb_0_270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f4358d70bb_0_287:notes"/>
          <p:cNvSpPr/>
          <p:nvPr>
            <p:ph idx="2" type="sldImg"/>
          </p:nvPr>
        </p:nvSpPr>
        <p:spPr>
          <a:xfrm>
            <a:off x="28575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" name="Google Shape;206;g3f4358d70bb_0_287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f4358d70bb_0_349:notes"/>
          <p:cNvSpPr/>
          <p:nvPr>
            <p:ph idx="2" type="sldImg"/>
          </p:nvPr>
        </p:nvSpPr>
        <p:spPr>
          <a:xfrm>
            <a:off x="28575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6" name="Google Shape;216;g3f4358d70bb_0_349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4:notes"/>
          <p:cNvSpPr/>
          <p:nvPr>
            <p:ph idx="2" type="sldImg"/>
          </p:nvPr>
        </p:nvSpPr>
        <p:spPr>
          <a:xfrm>
            <a:off x="-17145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7" name="Google Shape;227;p14:notes"/>
          <p:cNvSpPr txBox="1"/>
          <p:nvPr>
            <p:ph idx="1" type="body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8" name="Google Shape;228;p14:notes"/>
          <p:cNvSpPr txBox="1"/>
          <p:nvPr>
            <p:ph idx="12" type="sldNum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5:notes"/>
          <p:cNvSpPr/>
          <p:nvPr>
            <p:ph idx="2" type="sldImg"/>
          </p:nvPr>
        </p:nvSpPr>
        <p:spPr>
          <a:xfrm>
            <a:off x="-17145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9" name="Google Shape;239;p15:notes"/>
          <p:cNvSpPr txBox="1"/>
          <p:nvPr>
            <p:ph idx="1" type="body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0" name="Google Shape;240;p15:notes"/>
          <p:cNvSpPr txBox="1"/>
          <p:nvPr>
            <p:ph idx="12" type="sldNum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6:notes"/>
          <p:cNvSpPr/>
          <p:nvPr>
            <p:ph idx="2" type="sldImg"/>
          </p:nvPr>
        </p:nvSpPr>
        <p:spPr>
          <a:xfrm>
            <a:off x="-17145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1" name="Google Shape;251;p16:notes"/>
          <p:cNvSpPr txBox="1"/>
          <p:nvPr>
            <p:ph idx="1" type="body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2" name="Google Shape;252;p16:notes"/>
          <p:cNvSpPr txBox="1"/>
          <p:nvPr>
            <p:ph idx="12" type="sldNum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f4358d70bb_0_425:notes"/>
          <p:cNvSpPr/>
          <p:nvPr>
            <p:ph idx="2" type="sldImg"/>
          </p:nvPr>
        </p:nvSpPr>
        <p:spPr>
          <a:xfrm>
            <a:off x="28575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3" name="Google Shape;263;g3f4358d70bb_0_425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f4358d70bb_0_462:notes"/>
          <p:cNvSpPr/>
          <p:nvPr>
            <p:ph idx="2" type="sldImg"/>
          </p:nvPr>
        </p:nvSpPr>
        <p:spPr>
          <a:xfrm>
            <a:off x="28575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1" name="Google Shape;301;g3f4358d70bb_0_462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3f4358d70bb_0_80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g3f4358d70bb_0_8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4" name="Google Shape;14;g3f4358d70bb_0_80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5" name="Google Shape;15;g3f4358d70bb_0_8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3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6.png"/><Relationship Id="rId4" Type="http://schemas.openxmlformats.org/officeDocument/2006/relationships/image" Target="../media/image15.png"/><Relationship Id="rId5" Type="http://schemas.openxmlformats.org/officeDocument/2006/relationships/image" Target="../media/image1.png"/><Relationship Id="rId6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8.png"/><Relationship Id="rId4" Type="http://schemas.openxmlformats.org/officeDocument/2006/relationships/image" Target="../media/image9.png"/><Relationship Id="rId11" Type="http://schemas.openxmlformats.org/officeDocument/2006/relationships/image" Target="../media/image3.png"/><Relationship Id="rId10" Type="http://schemas.openxmlformats.org/officeDocument/2006/relationships/image" Target="../media/image4.png"/><Relationship Id="rId12" Type="http://schemas.openxmlformats.org/officeDocument/2006/relationships/image" Target="../media/image10.png"/><Relationship Id="rId9" Type="http://schemas.openxmlformats.org/officeDocument/2006/relationships/image" Target="../media/image14.png"/><Relationship Id="rId5" Type="http://schemas.openxmlformats.org/officeDocument/2006/relationships/image" Target="../media/image17.png"/><Relationship Id="rId6" Type="http://schemas.openxmlformats.org/officeDocument/2006/relationships/image" Target="../media/image13.png"/><Relationship Id="rId7" Type="http://schemas.openxmlformats.org/officeDocument/2006/relationships/image" Target="../media/image6.png"/><Relationship Id="rId8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9.png"/><Relationship Id="rId4" Type="http://schemas.openxmlformats.org/officeDocument/2006/relationships/image" Target="../media/image2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1.png"/><Relationship Id="rId4" Type="http://schemas.openxmlformats.org/officeDocument/2006/relationships/image" Target="../media/image3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2.png"/><Relationship Id="rId4" Type="http://schemas.openxmlformats.org/officeDocument/2006/relationships/image" Target="../media/image2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9.png"/><Relationship Id="rId4" Type="http://schemas.openxmlformats.org/officeDocument/2006/relationships/image" Target="../media/image2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6.png"/><Relationship Id="rId4" Type="http://schemas.openxmlformats.org/officeDocument/2006/relationships/image" Target="../media/image2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"/>
          <p:cNvSpPr/>
          <p:nvPr/>
        </p:nvSpPr>
        <p:spPr>
          <a:xfrm>
            <a:off x="2636445" y="1612227"/>
            <a:ext cx="3745800" cy="129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Мобільний застосунок для хайкінгу</a:t>
            </a:r>
            <a:endParaRPr b="1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2954895" y="3428992"/>
            <a:ext cx="3108900" cy="8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Виконав:</a:t>
            </a:r>
            <a:b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ст. гр. ПЗПІ-22-6</a:t>
            </a:r>
            <a:b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Кривко Р.А.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5048070" y="3428992"/>
            <a:ext cx="3108900" cy="8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Керівник:</a:t>
            </a:r>
            <a:b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доц. кафедри ПІ</a:t>
            </a:r>
            <a:b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Афанасьєва І.В.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8595360" y="4754880"/>
            <a:ext cx="274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BA9F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1"/>
          <p:cNvSpPr txBox="1"/>
          <p:nvPr/>
        </p:nvSpPr>
        <p:spPr>
          <a:xfrm>
            <a:off x="3828600" y="4546100"/>
            <a:ext cx="1486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10 липня 2026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g3f4358d70bb_0_7"/>
          <p:cNvSpPr txBox="1"/>
          <p:nvPr>
            <p:ph type="title"/>
          </p:nvPr>
        </p:nvSpPr>
        <p:spPr>
          <a:xfrm>
            <a:off x="311700" y="0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Мета роботи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g3f4358d70bb_0_7"/>
          <p:cNvSpPr txBox="1"/>
          <p:nvPr/>
        </p:nvSpPr>
        <p:spPr>
          <a:xfrm>
            <a:off x="8778240" y="4606349"/>
            <a:ext cx="284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g3f4358d70bb_0_7"/>
          <p:cNvSpPr/>
          <p:nvPr/>
        </p:nvSpPr>
        <p:spPr>
          <a:xfrm>
            <a:off x="311700" y="870481"/>
            <a:ext cx="8465100" cy="1234500"/>
          </a:xfrm>
          <a:prstGeom prst="rect">
            <a:avLst/>
          </a:prstGeom>
          <a:solidFill>
            <a:srgbClr val="D8F3DC"/>
          </a:solidFill>
          <a:ln cap="flat" cmpd="sng" w="12700">
            <a:solidFill>
              <a:srgbClr val="D8F3DC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2700000" dist="25400">
              <a:srgbClr val="000000">
                <a:alpha val="70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g3f4358d70bb_0_7"/>
          <p:cNvSpPr/>
          <p:nvPr/>
        </p:nvSpPr>
        <p:spPr>
          <a:xfrm>
            <a:off x="444137" y="934489"/>
            <a:ext cx="7972500" cy="111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B4332"/>
                </a:solidFill>
                <a:latin typeface="Arial"/>
                <a:ea typeface="Arial"/>
                <a:cs typeface="Arial"/>
                <a:sym typeface="Arial"/>
              </a:rPr>
              <a:t>Мета: </a:t>
            </a:r>
            <a:r>
              <a:rPr b="0" i="0" lang="en-US" sz="1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Розробка мобільного туристичного застосунку для підтримки туристичної активності, що забезпечує зручний пошук маршрутів, навігацію, планування походів, запис GPS-треків та соціальну взаємодію між користувачами.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g3f4358d70bb_0_7"/>
          <p:cNvSpPr/>
          <p:nvPr/>
        </p:nvSpPr>
        <p:spPr>
          <a:xfrm>
            <a:off x="311699" y="2221180"/>
            <a:ext cx="8465100" cy="292500"/>
          </a:xfrm>
          <a:prstGeom prst="rect">
            <a:avLst/>
          </a:prstGeom>
          <a:solidFill>
            <a:srgbClr val="D8F3DC"/>
          </a:solidFill>
          <a:ln cap="flat" cmpd="sng" w="12700">
            <a:solidFill>
              <a:srgbClr val="D8F3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g3f4358d70bb_0_7"/>
          <p:cNvSpPr/>
          <p:nvPr/>
        </p:nvSpPr>
        <p:spPr>
          <a:xfrm>
            <a:off x="444137" y="2221180"/>
            <a:ext cx="8046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B4332"/>
                </a:solidFill>
                <a:latin typeface="Arial"/>
                <a:ea typeface="Arial"/>
                <a:cs typeface="Arial"/>
                <a:sym typeface="Arial"/>
              </a:rPr>
              <a:t>Галузь застосування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g3f4358d70bb_0_7"/>
          <p:cNvSpPr/>
          <p:nvPr/>
        </p:nvSpPr>
        <p:spPr>
          <a:xfrm>
            <a:off x="311700" y="2568652"/>
            <a:ext cx="2697600" cy="1261800"/>
          </a:xfrm>
          <a:prstGeom prst="rect">
            <a:avLst/>
          </a:prstGeom>
          <a:solidFill>
            <a:srgbClr val="D8F3DC"/>
          </a:solidFill>
          <a:ln cap="flat" cmpd="sng" w="12700">
            <a:solidFill>
              <a:srgbClr val="D8F3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g3f4358d70bb_0_7"/>
          <p:cNvSpPr/>
          <p:nvPr/>
        </p:nvSpPr>
        <p:spPr>
          <a:xfrm>
            <a:off x="444137" y="2660092"/>
            <a:ext cx="22770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B4332"/>
                </a:solidFill>
                <a:latin typeface="Arial"/>
                <a:ea typeface="Arial"/>
                <a:cs typeface="Arial"/>
                <a:sym typeface="Arial"/>
              </a:rPr>
              <a:t>Індивідуальні користувачі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g3f4358d70bb_0_7"/>
          <p:cNvSpPr/>
          <p:nvPr/>
        </p:nvSpPr>
        <p:spPr>
          <a:xfrm>
            <a:off x="444137" y="3099004"/>
            <a:ext cx="22770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Планування маршрутів, навігація в умовах обмеженого зв'язку та обмін туристичним досвідом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g3f4358d70bb_0_7"/>
          <p:cNvSpPr/>
          <p:nvPr/>
        </p:nvSpPr>
        <p:spPr>
          <a:xfrm>
            <a:off x="3195468" y="2568652"/>
            <a:ext cx="2697600" cy="1261800"/>
          </a:xfrm>
          <a:prstGeom prst="rect">
            <a:avLst/>
          </a:prstGeom>
          <a:solidFill>
            <a:srgbClr val="B7E4C8"/>
          </a:solidFill>
          <a:ln cap="flat" cmpd="sng" w="12700">
            <a:solidFill>
              <a:srgbClr val="B7E4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g3f4358d70bb_0_7"/>
          <p:cNvSpPr/>
          <p:nvPr/>
        </p:nvSpPr>
        <p:spPr>
          <a:xfrm>
            <a:off x="3392954" y="2660092"/>
            <a:ext cx="22770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B4332"/>
                </a:solidFill>
                <a:latin typeface="Arial"/>
                <a:ea typeface="Arial"/>
                <a:cs typeface="Arial"/>
                <a:sym typeface="Arial"/>
              </a:rPr>
              <a:t>Туристичні агенції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g3f4358d70bb_0_7"/>
          <p:cNvSpPr/>
          <p:nvPr/>
        </p:nvSpPr>
        <p:spPr>
          <a:xfrm>
            <a:off x="3392953" y="3099004"/>
            <a:ext cx="24201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Публікація та просування хайкінгових маршрутів для широкої аудиторії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g3f4358d70bb_0_7"/>
          <p:cNvSpPr/>
          <p:nvPr/>
        </p:nvSpPr>
        <p:spPr>
          <a:xfrm>
            <a:off x="6079236" y="2568652"/>
            <a:ext cx="2697600" cy="1261800"/>
          </a:xfrm>
          <a:prstGeom prst="rect">
            <a:avLst/>
          </a:prstGeom>
          <a:solidFill>
            <a:srgbClr val="D8F3DC"/>
          </a:solidFill>
          <a:ln cap="flat" cmpd="sng" w="12700">
            <a:solidFill>
              <a:srgbClr val="D8F3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g3f4358d70bb_0_7"/>
          <p:cNvSpPr/>
          <p:nvPr/>
        </p:nvSpPr>
        <p:spPr>
          <a:xfrm>
            <a:off x="6209357" y="2660092"/>
            <a:ext cx="22770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B4332"/>
                </a:solidFill>
                <a:latin typeface="Arial"/>
                <a:ea typeface="Arial"/>
                <a:cs typeface="Arial"/>
                <a:sym typeface="Arial"/>
              </a:rPr>
              <a:t>Регіональні органи туризму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g3f4358d70bb_0_7"/>
          <p:cNvSpPr/>
          <p:nvPr/>
        </p:nvSpPr>
        <p:spPr>
          <a:xfrm>
            <a:off x="6209356" y="3099004"/>
            <a:ext cx="23403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Актуалізація даних про маршрути та контроль їхньої безпеки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g3f4358d70bb_0_7"/>
          <p:cNvSpPr/>
          <p:nvPr/>
        </p:nvSpPr>
        <p:spPr>
          <a:xfrm>
            <a:off x="2911492" y="3921256"/>
            <a:ext cx="58653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Реалізація системи зробить пішохідний туризм доступнішим, підвищить зручність і безпеку для туристів та сприятиме формуванню активної туристичної спільноти.</a:t>
            </a:r>
            <a:endParaRPr b="0" i="1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3f4358d70bb_0_85"/>
          <p:cNvSpPr txBox="1"/>
          <p:nvPr>
            <p:ph type="title"/>
          </p:nvPr>
        </p:nvSpPr>
        <p:spPr>
          <a:xfrm>
            <a:off x="311700" y="0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Аналіз існуючих рішень</a:t>
            </a:r>
            <a:endParaRPr sz="2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g3f4358d70bb_0_85"/>
          <p:cNvSpPr txBox="1"/>
          <p:nvPr/>
        </p:nvSpPr>
        <p:spPr>
          <a:xfrm>
            <a:off x="8778240" y="4606349"/>
            <a:ext cx="284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g3f4358d70bb_0_85"/>
          <p:cNvSpPr/>
          <p:nvPr/>
        </p:nvSpPr>
        <p:spPr>
          <a:xfrm flipH="1">
            <a:off x="4453824" y="768869"/>
            <a:ext cx="18300" cy="3837600"/>
          </a:xfrm>
          <a:prstGeom prst="rect">
            <a:avLst/>
          </a:prstGeom>
          <a:solidFill>
            <a:srgbClr val="E5E7EB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53" name="Google Shape;53;g3f4358d70bb_0_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901" y="955761"/>
            <a:ext cx="1097280" cy="1097280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g3f4358d70bb_0_85"/>
          <p:cNvSpPr/>
          <p:nvPr/>
        </p:nvSpPr>
        <p:spPr>
          <a:xfrm>
            <a:off x="513812" y="2130114"/>
            <a:ext cx="1775400" cy="2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AllTrails</a:t>
            </a:r>
            <a:endParaRPr b="1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Найбільша база маршрутів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55" name="Google Shape;55;g3f4358d70bb_0_8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15050" y="955761"/>
            <a:ext cx="1097280" cy="109728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g3f4358d70bb_0_85"/>
          <p:cNvSpPr/>
          <p:nvPr/>
        </p:nvSpPr>
        <p:spPr>
          <a:xfrm>
            <a:off x="2677346" y="2130114"/>
            <a:ext cx="1372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Komoot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Голосова навігація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57" name="Google Shape;57;g3f4358d70bb_0_8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2901" y="2701836"/>
            <a:ext cx="1097280" cy="109728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g3f4358d70bb_0_85"/>
          <p:cNvSpPr/>
          <p:nvPr/>
        </p:nvSpPr>
        <p:spPr>
          <a:xfrm>
            <a:off x="521976" y="3885327"/>
            <a:ext cx="1759200" cy="23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Strava</a:t>
            </a:r>
            <a:endParaRPr b="1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Соціальний спортивний трекер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59" name="Google Shape;59;g3f4358d70bb_0_8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815050" y="2701836"/>
            <a:ext cx="1097280" cy="109728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g3f4358d70bb_0_85"/>
          <p:cNvSpPr/>
          <p:nvPr/>
        </p:nvSpPr>
        <p:spPr>
          <a:xfrm>
            <a:off x="2726493" y="3885327"/>
            <a:ext cx="1372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Google Maps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Масштаб та доступність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g3f4358d70bb_0_85"/>
          <p:cNvSpPr/>
          <p:nvPr/>
        </p:nvSpPr>
        <p:spPr>
          <a:xfrm>
            <a:off x="4754880" y="955761"/>
            <a:ext cx="3977700" cy="749700"/>
          </a:xfrm>
          <a:prstGeom prst="rect">
            <a:avLst/>
          </a:prstGeom>
          <a:solidFill>
            <a:srgbClr val="D8F3DC"/>
          </a:solidFill>
          <a:ln cap="flat" cmpd="sng" w="12700">
            <a:solidFill>
              <a:srgbClr val="D8F3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g3f4358d70bb_0_85"/>
          <p:cNvSpPr/>
          <p:nvPr/>
        </p:nvSpPr>
        <p:spPr>
          <a:xfrm>
            <a:off x="4937760" y="960105"/>
            <a:ext cx="37491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B4332"/>
                </a:solidFill>
                <a:latin typeface="Arial"/>
                <a:ea typeface="Arial"/>
                <a:cs typeface="Arial"/>
                <a:sym typeface="Arial"/>
              </a:rPr>
              <a:t>Відсутня або платна SOS-функція з передачею GPS-координат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g3f4358d70bb_0_85"/>
          <p:cNvSpPr/>
          <p:nvPr/>
        </p:nvSpPr>
        <p:spPr>
          <a:xfrm>
            <a:off x="4754880" y="1862465"/>
            <a:ext cx="3977700" cy="749700"/>
          </a:xfrm>
          <a:prstGeom prst="rect">
            <a:avLst/>
          </a:prstGeom>
          <a:solidFill>
            <a:srgbClr val="B7E4C8"/>
          </a:solidFill>
          <a:ln cap="flat" cmpd="sng" w="12700">
            <a:solidFill>
              <a:srgbClr val="B7E4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g3f4358d70bb_0_85"/>
          <p:cNvSpPr/>
          <p:nvPr/>
        </p:nvSpPr>
        <p:spPr>
          <a:xfrm>
            <a:off x="4937760" y="1865361"/>
            <a:ext cx="37491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B4332"/>
                </a:solidFill>
                <a:latin typeface="Arial"/>
                <a:ea typeface="Arial"/>
                <a:cs typeface="Arial"/>
                <a:sym typeface="Arial"/>
              </a:rPr>
              <a:t>Відсутність усіх кроків планування маршруту в єдиному застосунку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g3f4358d70bb_0_85"/>
          <p:cNvSpPr/>
          <p:nvPr/>
        </p:nvSpPr>
        <p:spPr>
          <a:xfrm>
            <a:off x="4754880" y="2769169"/>
            <a:ext cx="3977700" cy="749700"/>
          </a:xfrm>
          <a:prstGeom prst="rect">
            <a:avLst/>
          </a:prstGeom>
          <a:solidFill>
            <a:srgbClr val="D8F3DC"/>
          </a:solidFill>
          <a:ln cap="flat" cmpd="sng" w="12700">
            <a:solidFill>
              <a:srgbClr val="D8F3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g3f4358d70bb_0_85"/>
          <p:cNvSpPr/>
          <p:nvPr/>
        </p:nvSpPr>
        <p:spPr>
          <a:xfrm>
            <a:off x="4937760" y="2770617"/>
            <a:ext cx="37491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B4332"/>
                </a:solidFill>
                <a:latin typeface="Arial"/>
                <a:ea typeface="Arial"/>
                <a:cs typeface="Arial"/>
                <a:sym typeface="Arial"/>
              </a:rPr>
              <a:t>Обмежена безкоштовна офлайн-навігація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g3f4358d70bb_0_85"/>
          <p:cNvSpPr/>
          <p:nvPr/>
        </p:nvSpPr>
        <p:spPr>
          <a:xfrm>
            <a:off x="4754880" y="3675873"/>
            <a:ext cx="3977700" cy="749700"/>
          </a:xfrm>
          <a:prstGeom prst="rect">
            <a:avLst/>
          </a:prstGeom>
          <a:solidFill>
            <a:srgbClr val="B7E4C8"/>
          </a:solidFill>
          <a:ln cap="flat" cmpd="sng" w="12700">
            <a:solidFill>
              <a:srgbClr val="B7E4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g3f4358d70bb_0_85"/>
          <p:cNvSpPr/>
          <p:nvPr/>
        </p:nvSpPr>
        <p:spPr>
          <a:xfrm>
            <a:off x="4937760" y="3675873"/>
            <a:ext cx="37491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B4332"/>
                </a:solidFill>
                <a:latin typeface="Arial"/>
                <a:ea typeface="Arial"/>
                <a:cs typeface="Arial"/>
                <a:sym typeface="Arial"/>
              </a:rPr>
              <a:t>Відсутність динамічної системи рекомендацій маршрутів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f4358d70bb_0_108"/>
          <p:cNvSpPr txBox="1"/>
          <p:nvPr>
            <p:ph type="title"/>
          </p:nvPr>
        </p:nvSpPr>
        <p:spPr>
          <a:xfrm>
            <a:off x="311700" y="0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Постановка задачі та опис системи</a:t>
            </a:r>
            <a:endParaRPr sz="2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g3f4358d70bb_0_108"/>
          <p:cNvSpPr txBox="1"/>
          <p:nvPr/>
        </p:nvSpPr>
        <p:spPr>
          <a:xfrm>
            <a:off x="8778240" y="4606349"/>
            <a:ext cx="284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g3f4358d70bb_0_108"/>
          <p:cNvSpPr/>
          <p:nvPr/>
        </p:nvSpPr>
        <p:spPr>
          <a:xfrm>
            <a:off x="311700" y="837889"/>
            <a:ext cx="8397300" cy="292500"/>
          </a:xfrm>
          <a:prstGeom prst="rect">
            <a:avLst/>
          </a:prstGeom>
          <a:solidFill>
            <a:srgbClr val="D8F3DC"/>
          </a:solidFill>
          <a:ln cap="flat" cmpd="sng" w="12700">
            <a:solidFill>
              <a:srgbClr val="D8F3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g3f4358d70bb_0_108"/>
          <p:cNvSpPr/>
          <p:nvPr/>
        </p:nvSpPr>
        <p:spPr>
          <a:xfrm>
            <a:off x="419106" y="837889"/>
            <a:ext cx="8119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B4332"/>
                </a:solidFill>
                <a:latin typeface="Arial"/>
                <a:ea typeface="Arial"/>
                <a:cs typeface="Arial"/>
                <a:sym typeface="Arial"/>
              </a:rPr>
              <a:t>Основна задача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g3f4358d70bb_0_108"/>
          <p:cNvSpPr/>
          <p:nvPr/>
        </p:nvSpPr>
        <p:spPr>
          <a:xfrm>
            <a:off x="419106" y="1171064"/>
            <a:ext cx="83058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Проєктування та розробка мобільного застосунку для платформи Android, що забезпечить повний цикл підготовки та проведення походу в межах єдиної платформи.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g3f4358d70bb_0_108"/>
          <p:cNvSpPr/>
          <p:nvPr/>
        </p:nvSpPr>
        <p:spPr>
          <a:xfrm>
            <a:off x="311700" y="1792349"/>
            <a:ext cx="8397300" cy="292500"/>
          </a:xfrm>
          <a:prstGeom prst="rect">
            <a:avLst/>
          </a:prstGeom>
          <a:solidFill>
            <a:srgbClr val="D8F3DC"/>
          </a:solidFill>
          <a:ln cap="flat" cmpd="sng" w="12700">
            <a:solidFill>
              <a:srgbClr val="D8F3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g3f4358d70bb_0_108"/>
          <p:cNvSpPr/>
          <p:nvPr/>
        </p:nvSpPr>
        <p:spPr>
          <a:xfrm>
            <a:off x="419106" y="1792349"/>
            <a:ext cx="8119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B4332"/>
                </a:solidFill>
                <a:latin typeface="Arial"/>
                <a:ea typeface="Arial"/>
                <a:cs typeface="Arial"/>
                <a:sym typeface="Arial"/>
              </a:rPr>
              <a:t>Ключові завдання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g3f4358d70bb_0_108"/>
          <p:cNvSpPr/>
          <p:nvPr/>
        </p:nvSpPr>
        <p:spPr>
          <a:xfrm>
            <a:off x="419106" y="2269087"/>
            <a:ext cx="118800" cy="118800"/>
          </a:xfrm>
          <a:prstGeom prst="ellipse">
            <a:avLst/>
          </a:prstGeom>
          <a:solidFill>
            <a:srgbClr val="52B788"/>
          </a:solidFill>
          <a:ln cap="flat" cmpd="sng" w="12700">
            <a:solidFill>
              <a:srgbClr val="52B7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g3f4358d70bb_0_108"/>
          <p:cNvSpPr/>
          <p:nvPr/>
        </p:nvSpPr>
        <p:spPr>
          <a:xfrm>
            <a:off x="632899" y="2224620"/>
            <a:ext cx="3785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Реєстрація / авторизація / профіль користувача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g3f4358d70bb_0_108"/>
          <p:cNvSpPr/>
          <p:nvPr/>
        </p:nvSpPr>
        <p:spPr>
          <a:xfrm>
            <a:off x="419106" y="2626807"/>
            <a:ext cx="118800" cy="118800"/>
          </a:xfrm>
          <a:prstGeom prst="ellipse">
            <a:avLst/>
          </a:prstGeom>
          <a:solidFill>
            <a:srgbClr val="52B788"/>
          </a:solidFill>
          <a:ln cap="flat" cmpd="sng" w="12700">
            <a:solidFill>
              <a:srgbClr val="52B7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g3f4358d70bb_0_108"/>
          <p:cNvSpPr/>
          <p:nvPr/>
        </p:nvSpPr>
        <p:spPr>
          <a:xfrm>
            <a:off x="632899" y="2584909"/>
            <a:ext cx="3785700" cy="2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Пошук, фільтрація та перегляд маршрутів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g3f4358d70bb_0_108"/>
          <p:cNvSpPr/>
          <p:nvPr/>
        </p:nvSpPr>
        <p:spPr>
          <a:xfrm>
            <a:off x="419106" y="2984526"/>
            <a:ext cx="118800" cy="118800"/>
          </a:xfrm>
          <a:prstGeom prst="ellipse">
            <a:avLst/>
          </a:prstGeom>
          <a:solidFill>
            <a:srgbClr val="52B788"/>
          </a:solidFill>
          <a:ln cap="flat" cmpd="sng" w="12700">
            <a:solidFill>
              <a:srgbClr val="52B7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g3f4358d70bb_0_108"/>
          <p:cNvSpPr/>
          <p:nvPr/>
        </p:nvSpPr>
        <p:spPr>
          <a:xfrm>
            <a:off x="632899" y="2939052"/>
            <a:ext cx="37857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GPS-трекінг, запис і збереження треків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g3f4358d70bb_0_108"/>
          <p:cNvSpPr/>
          <p:nvPr/>
        </p:nvSpPr>
        <p:spPr>
          <a:xfrm>
            <a:off x="4814967" y="2264151"/>
            <a:ext cx="118800" cy="118800"/>
          </a:xfrm>
          <a:prstGeom prst="ellipse">
            <a:avLst/>
          </a:prstGeom>
          <a:solidFill>
            <a:srgbClr val="52B788"/>
          </a:solidFill>
          <a:ln cap="flat" cmpd="sng" w="12700">
            <a:solidFill>
              <a:srgbClr val="52B7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g3f4358d70bb_0_108"/>
          <p:cNvSpPr/>
          <p:nvPr/>
        </p:nvSpPr>
        <p:spPr>
          <a:xfrm>
            <a:off x="5003509" y="2226832"/>
            <a:ext cx="3705300" cy="2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Офлайн-режим роботи</a:t>
            </a:r>
            <a:endParaRPr b="0" i="0" sz="1200" u="none" cap="none" strike="noStrike">
              <a:solidFill>
                <a:srgbClr val="37415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g3f4358d70bb_0_108"/>
          <p:cNvSpPr/>
          <p:nvPr/>
        </p:nvSpPr>
        <p:spPr>
          <a:xfrm>
            <a:off x="4814967" y="2627863"/>
            <a:ext cx="122400" cy="122400"/>
          </a:xfrm>
          <a:prstGeom prst="ellipse">
            <a:avLst/>
          </a:prstGeom>
          <a:solidFill>
            <a:srgbClr val="52B788"/>
          </a:solidFill>
          <a:ln cap="flat" cmpd="sng" w="12700">
            <a:solidFill>
              <a:srgbClr val="52B7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g3f4358d70bb_0_108"/>
          <p:cNvSpPr/>
          <p:nvPr/>
        </p:nvSpPr>
        <p:spPr>
          <a:xfrm>
            <a:off x="5003508" y="2577937"/>
            <a:ext cx="3657300" cy="2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SOS-функція надсилання GPS-координат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g3f4358d70bb_0_108"/>
          <p:cNvSpPr/>
          <p:nvPr/>
        </p:nvSpPr>
        <p:spPr>
          <a:xfrm>
            <a:off x="4814967" y="2978964"/>
            <a:ext cx="118800" cy="118800"/>
          </a:xfrm>
          <a:prstGeom prst="ellipse">
            <a:avLst/>
          </a:prstGeom>
          <a:solidFill>
            <a:srgbClr val="52B788"/>
          </a:solidFill>
          <a:ln cap="flat" cmpd="sng" w="12700">
            <a:solidFill>
              <a:srgbClr val="52B7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g3f4358d70bb_0_108"/>
          <p:cNvSpPr/>
          <p:nvPr/>
        </p:nvSpPr>
        <p:spPr>
          <a:xfrm>
            <a:off x="5003509" y="2939052"/>
            <a:ext cx="3705300" cy="2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Модуль планування походу</a:t>
            </a:r>
            <a:endParaRPr b="0" i="0" sz="1200" u="none" cap="none" strike="noStrike">
              <a:solidFill>
                <a:srgbClr val="37415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g3f4358d70bb_0_108"/>
          <p:cNvSpPr/>
          <p:nvPr/>
        </p:nvSpPr>
        <p:spPr>
          <a:xfrm>
            <a:off x="311699" y="3346538"/>
            <a:ext cx="8397300" cy="292500"/>
          </a:xfrm>
          <a:prstGeom prst="rect">
            <a:avLst/>
          </a:prstGeom>
          <a:solidFill>
            <a:srgbClr val="D8F3DC"/>
          </a:solidFill>
          <a:ln cap="flat" cmpd="sng" w="12700">
            <a:solidFill>
              <a:srgbClr val="D8F3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g3f4358d70bb_0_108"/>
          <p:cNvSpPr/>
          <p:nvPr/>
        </p:nvSpPr>
        <p:spPr>
          <a:xfrm>
            <a:off x="419106" y="3346538"/>
            <a:ext cx="8119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B4332"/>
                </a:solidFill>
                <a:latin typeface="Arial"/>
                <a:ea typeface="Arial"/>
                <a:cs typeface="Arial"/>
                <a:sym typeface="Arial"/>
              </a:rPr>
              <a:t>Архітектура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g3f4358d70bb_0_108"/>
          <p:cNvSpPr/>
          <p:nvPr/>
        </p:nvSpPr>
        <p:spPr>
          <a:xfrm>
            <a:off x="523602" y="3696041"/>
            <a:ext cx="8185200" cy="4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Клієнт-серверна архітектура: серверна частина та мобільний застосунок працюють окремо, що дозволяє системі масштабуватися та надійно захищати дані користувачів.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f4358d70bb_0_134"/>
          <p:cNvSpPr txBox="1"/>
          <p:nvPr>
            <p:ph type="title"/>
          </p:nvPr>
        </p:nvSpPr>
        <p:spPr>
          <a:xfrm>
            <a:off x="311700" y="0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Вибір технологій розробки </a:t>
            </a:r>
            <a:endParaRPr sz="28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0" name="Google Shape;100;g3f4358d70bb_0_1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g3f4358d70bb_0_134"/>
          <p:cNvSpPr txBox="1"/>
          <p:nvPr/>
        </p:nvSpPr>
        <p:spPr>
          <a:xfrm>
            <a:off x="8778240" y="4606349"/>
            <a:ext cx="284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g3f4358d70bb_0_134"/>
          <p:cNvSpPr/>
          <p:nvPr/>
        </p:nvSpPr>
        <p:spPr>
          <a:xfrm>
            <a:off x="3302692" y="900033"/>
            <a:ext cx="26976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B4332"/>
                </a:solidFill>
                <a:latin typeface="Arial"/>
                <a:ea typeface="Arial"/>
                <a:cs typeface="Arial"/>
                <a:sym typeface="Arial"/>
              </a:rPr>
              <a:t>Серверна частина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g3f4358d70bb_0_134"/>
          <p:cNvSpPr/>
          <p:nvPr/>
        </p:nvSpPr>
        <p:spPr>
          <a:xfrm>
            <a:off x="3302691" y="1247505"/>
            <a:ext cx="2697600" cy="18300"/>
          </a:xfrm>
          <a:prstGeom prst="rect">
            <a:avLst/>
          </a:prstGeom>
          <a:solidFill>
            <a:srgbClr val="E5E7EB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04" name="Google Shape;104;g3f4358d70bb_0_1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00984" y="1465104"/>
            <a:ext cx="512064" cy="512064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g3f4358d70bb_0_134"/>
          <p:cNvSpPr/>
          <p:nvPr/>
        </p:nvSpPr>
        <p:spPr>
          <a:xfrm>
            <a:off x="3984174" y="1464900"/>
            <a:ext cx="20208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Java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Мова програмування</a:t>
            </a:r>
            <a:endParaRPr b="0" i="0" sz="10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06" name="Google Shape;106;g3f4358d70bb_0_1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00984" y="2139631"/>
            <a:ext cx="512064" cy="512064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g3f4358d70bb_0_134"/>
          <p:cNvSpPr/>
          <p:nvPr/>
        </p:nvSpPr>
        <p:spPr>
          <a:xfrm>
            <a:off x="3984174" y="2139631"/>
            <a:ext cx="20208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Spring Boot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Backend-фреймворк</a:t>
            </a:r>
            <a:endParaRPr b="1" i="0" sz="1200" u="none" cap="none" strike="noStrike">
              <a:solidFill>
                <a:srgbClr val="1A1A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08" name="Google Shape;108;g3f4358d70bb_0_13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300984" y="2814858"/>
            <a:ext cx="512064" cy="512064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g3f4358d70bb_0_134"/>
          <p:cNvSpPr/>
          <p:nvPr/>
        </p:nvSpPr>
        <p:spPr>
          <a:xfrm>
            <a:off x="3984174" y="2814858"/>
            <a:ext cx="20208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PostgreSQL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Реляційна СУБД</a:t>
            </a:r>
            <a:endParaRPr b="1" i="0" sz="1200" u="none" cap="none" strike="noStrike">
              <a:solidFill>
                <a:srgbClr val="1A1A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10" name="Google Shape;110;g3f4358d70bb_0_13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300984" y="3490086"/>
            <a:ext cx="512064" cy="512064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g3f4358d70bb_0_134"/>
          <p:cNvSpPr/>
          <p:nvPr/>
        </p:nvSpPr>
        <p:spPr>
          <a:xfrm>
            <a:off x="3984174" y="3490086"/>
            <a:ext cx="20208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Nginx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Веб-сервер (реверс-проксі)</a:t>
            </a:r>
            <a:endParaRPr b="0" i="0" sz="1000" u="none" cap="none" strike="noStrik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g3f4358d70bb_0_134"/>
          <p:cNvSpPr/>
          <p:nvPr/>
        </p:nvSpPr>
        <p:spPr>
          <a:xfrm>
            <a:off x="396607" y="900033"/>
            <a:ext cx="26976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B4332"/>
                </a:solidFill>
                <a:latin typeface="Arial"/>
                <a:ea typeface="Arial"/>
                <a:cs typeface="Arial"/>
                <a:sym typeface="Arial"/>
              </a:rPr>
              <a:t>Клієнтська частина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g3f4358d70bb_0_134"/>
          <p:cNvSpPr/>
          <p:nvPr/>
        </p:nvSpPr>
        <p:spPr>
          <a:xfrm>
            <a:off x="396607" y="1247505"/>
            <a:ext cx="2697600" cy="18300"/>
          </a:xfrm>
          <a:prstGeom prst="rect">
            <a:avLst/>
          </a:prstGeom>
          <a:solidFill>
            <a:srgbClr val="E5E7EB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14" name="Google Shape;114;g3f4358d70bb_0_13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96607" y="1468486"/>
            <a:ext cx="512064" cy="512064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g3f4358d70bb_0_134"/>
          <p:cNvSpPr/>
          <p:nvPr/>
        </p:nvSpPr>
        <p:spPr>
          <a:xfrm>
            <a:off x="1067252" y="1463588"/>
            <a:ext cx="20208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Android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Мобільна платформа</a:t>
            </a:r>
            <a:endParaRPr b="0" i="0" sz="1000" u="none" cap="none" strike="noStrik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6" name="Google Shape;116;g3f4358d70bb_0_13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96607" y="2148408"/>
            <a:ext cx="512064" cy="512064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g3f4358d70bb_0_134"/>
          <p:cNvSpPr/>
          <p:nvPr/>
        </p:nvSpPr>
        <p:spPr>
          <a:xfrm>
            <a:off x="1067252" y="2148408"/>
            <a:ext cx="20208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Kotlin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Мова програмування</a:t>
            </a:r>
            <a:endParaRPr b="0" i="0" sz="1000" u="none" cap="none" strike="noStrik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8" name="Google Shape;118;g3f4358d70bb_0_13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96607" y="2825064"/>
            <a:ext cx="512064" cy="512064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g3f4358d70bb_0_134"/>
          <p:cNvSpPr/>
          <p:nvPr/>
        </p:nvSpPr>
        <p:spPr>
          <a:xfrm>
            <a:off x="1067252" y="2825064"/>
            <a:ext cx="20208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Jetpack Compose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Декларативний UI-фреймворк</a:t>
            </a:r>
            <a:endParaRPr b="0" i="0" sz="1000" u="none" cap="none" strike="noStrik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g3f4358d70bb_0_134"/>
          <p:cNvSpPr/>
          <p:nvPr/>
        </p:nvSpPr>
        <p:spPr>
          <a:xfrm>
            <a:off x="6208776" y="900033"/>
            <a:ext cx="26976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B4332"/>
                </a:solidFill>
                <a:latin typeface="Arial"/>
                <a:ea typeface="Arial"/>
                <a:cs typeface="Arial"/>
                <a:sym typeface="Arial"/>
              </a:rPr>
              <a:t>Картографія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g3f4358d70bb_0_134"/>
          <p:cNvSpPr/>
          <p:nvPr/>
        </p:nvSpPr>
        <p:spPr>
          <a:xfrm>
            <a:off x="6208776" y="1247505"/>
            <a:ext cx="2697600" cy="18300"/>
          </a:xfrm>
          <a:prstGeom prst="rect">
            <a:avLst/>
          </a:prstGeom>
          <a:solidFill>
            <a:srgbClr val="E5E7EB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22" name="Google Shape;122;g3f4358d70bb_0_13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208776" y="1465104"/>
            <a:ext cx="512064" cy="512064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g3f4358d70bb_0_134"/>
          <p:cNvSpPr/>
          <p:nvPr/>
        </p:nvSpPr>
        <p:spPr>
          <a:xfrm>
            <a:off x="6885432" y="1464900"/>
            <a:ext cx="20208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OpenStreetMap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Відкриті картографічні дані</a:t>
            </a:r>
            <a:endParaRPr b="1" i="0" sz="1200" u="none" cap="none" strike="noStrike">
              <a:solidFill>
                <a:srgbClr val="1A1A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4" name="Google Shape;124;g3f4358d70bb_0_13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3300984" y="4165314"/>
            <a:ext cx="512064" cy="512064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g3f4358d70bb_0_134"/>
          <p:cNvSpPr/>
          <p:nvPr/>
        </p:nvSpPr>
        <p:spPr>
          <a:xfrm>
            <a:off x="3984174" y="4165314"/>
            <a:ext cx="20208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Docker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Контейнерізація</a:t>
            </a:r>
            <a:endParaRPr b="0" i="0" sz="10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f4358d70bb_0_164"/>
          <p:cNvSpPr/>
          <p:nvPr/>
        </p:nvSpPr>
        <p:spPr>
          <a:xfrm>
            <a:off x="268925" y="2909752"/>
            <a:ext cx="2578800" cy="950400"/>
          </a:xfrm>
          <a:prstGeom prst="rect">
            <a:avLst/>
          </a:prstGeom>
          <a:solidFill>
            <a:srgbClr val="B7E4C8"/>
          </a:solidFill>
          <a:ln cap="flat" cmpd="sng" w="12700">
            <a:solidFill>
              <a:srgbClr val="B7E4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g3f4358d70bb_0_164"/>
          <p:cNvSpPr/>
          <p:nvPr/>
        </p:nvSpPr>
        <p:spPr>
          <a:xfrm>
            <a:off x="268925" y="831300"/>
            <a:ext cx="2578800" cy="1572300"/>
          </a:xfrm>
          <a:prstGeom prst="rect">
            <a:avLst/>
          </a:prstGeom>
          <a:solidFill>
            <a:srgbClr val="D8F3DC"/>
          </a:solidFill>
          <a:ln cap="flat" cmpd="sng" w="12700">
            <a:solidFill>
              <a:srgbClr val="D8F3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g3f4358d70bb_0_164"/>
          <p:cNvSpPr txBox="1"/>
          <p:nvPr/>
        </p:nvSpPr>
        <p:spPr>
          <a:xfrm>
            <a:off x="8778240" y="4606349"/>
            <a:ext cx="284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g3f4358d70bb_0_164"/>
          <p:cNvSpPr txBox="1"/>
          <p:nvPr/>
        </p:nvSpPr>
        <p:spPr>
          <a:xfrm>
            <a:off x="311700" y="0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Діаграма прецедентів</a:t>
            </a:r>
            <a:endParaRPr/>
          </a:p>
        </p:txBody>
      </p:sp>
      <p:sp>
        <p:nvSpPr>
          <p:cNvPr id="134" name="Google Shape;134;g3f4358d70bb_0_164"/>
          <p:cNvSpPr/>
          <p:nvPr/>
        </p:nvSpPr>
        <p:spPr>
          <a:xfrm>
            <a:off x="372291" y="907932"/>
            <a:ext cx="2361300" cy="14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Основні сценарії взаємодії Користувача із системою: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Arial"/>
              <a:buChar char="•"/>
            </a:pP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процеси автентифікації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Arial"/>
              <a:buChar char="•"/>
            </a:pP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планування та проходження маршрутів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Arial"/>
              <a:buChar char="•"/>
            </a:pP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отримання рекомендацій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Arial"/>
              <a:buChar char="•"/>
            </a:pP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створення власних маршрутів тощо.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g3f4358d70bb_0_164"/>
          <p:cNvSpPr/>
          <p:nvPr/>
        </p:nvSpPr>
        <p:spPr>
          <a:xfrm>
            <a:off x="372291" y="3013229"/>
            <a:ext cx="2361300" cy="7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Структура функціональності сформована на основі вимог до системи та сценаріїв використання застосунку.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6" name="Google Shape;136;g3f4358d70bb_0_1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47725" y="880661"/>
            <a:ext cx="5778125" cy="39066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f4358d70bb_0_175"/>
          <p:cNvSpPr txBox="1"/>
          <p:nvPr/>
        </p:nvSpPr>
        <p:spPr>
          <a:xfrm>
            <a:off x="8778240" y="4606349"/>
            <a:ext cx="284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components_diagram.png" id="142" name="Google Shape;142;g3f4358d70bb_0_1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0896" y="867380"/>
            <a:ext cx="8229601" cy="3011822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g3f4358d70bb_0_175"/>
          <p:cNvSpPr/>
          <p:nvPr/>
        </p:nvSpPr>
        <p:spPr>
          <a:xfrm>
            <a:off x="1410788" y="4206246"/>
            <a:ext cx="72759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Android-клієнт взаємодіє з сервером через REST API за протоколом HTTPS. Spring Boot обробляє запити та звертається до бази PostgreSQL, сервісу автентифікації Keycloak та зовнішніх API (OpenStreetMap для карт і погодного сервісу). Для роботи без інтернету застосунок кешує карти та маршрути локально.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g3f4358d70bb_0_175"/>
          <p:cNvSpPr txBox="1"/>
          <p:nvPr>
            <p:ph type="title"/>
          </p:nvPr>
        </p:nvSpPr>
        <p:spPr>
          <a:xfrm>
            <a:off x="311700" y="0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Архітектура системи</a:t>
            </a:r>
            <a:endParaRPr sz="2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f4358d70bb_0_183"/>
          <p:cNvSpPr txBox="1"/>
          <p:nvPr/>
        </p:nvSpPr>
        <p:spPr>
          <a:xfrm>
            <a:off x="8778240" y="4606349"/>
            <a:ext cx="284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g3f4358d70bb_0_183"/>
          <p:cNvSpPr txBox="1"/>
          <p:nvPr>
            <p:ph type="title"/>
          </p:nvPr>
        </p:nvSpPr>
        <p:spPr>
          <a:xfrm>
            <a:off x="311700" y="0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Архітектура серверної частини</a:t>
            </a:r>
            <a:endParaRPr sz="28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packages_diagram.png" id="151" name="Google Shape;151;g3f4358d70bb_0_1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47650" y="824265"/>
            <a:ext cx="1513376" cy="3886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g3f4358d70bb_0_183"/>
          <p:cNvSpPr/>
          <p:nvPr/>
        </p:nvSpPr>
        <p:spPr>
          <a:xfrm>
            <a:off x="395804" y="824265"/>
            <a:ext cx="5592900" cy="5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Архітектура серверної частини базується на класичному багатошаровому підході з чітким розділенням відповідальності між шарами.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g3f4358d70bb_0_183"/>
          <p:cNvSpPr/>
          <p:nvPr/>
        </p:nvSpPr>
        <p:spPr>
          <a:xfrm>
            <a:off x="395804" y="1430387"/>
            <a:ext cx="5737200" cy="961800"/>
          </a:xfrm>
          <a:prstGeom prst="rect">
            <a:avLst/>
          </a:prstGeom>
          <a:solidFill>
            <a:srgbClr val="D8F3DC"/>
          </a:solidFill>
          <a:ln cap="flat" cmpd="sng" w="12700">
            <a:solidFill>
              <a:srgbClr val="D8F3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g3f4358d70bb_0_183"/>
          <p:cNvSpPr/>
          <p:nvPr/>
        </p:nvSpPr>
        <p:spPr>
          <a:xfrm>
            <a:off x="587841" y="1503539"/>
            <a:ext cx="522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B4332"/>
                </a:solidFill>
                <a:latin typeface="Arial"/>
                <a:ea typeface="Arial"/>
                <a:cs typeface="Arial"/>
                <a:sym typeface="Arial"/>
              </a:rPr>
              <a:t>Presentation Layer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g3f4358d70bb_0_183"/>
          <p:cNvSpPr/>
          <p:nvPr/>
        </p:nvSpPr>
        <p:spPr>
          <a:xfrm>
            <a:off x="587841" y="1788745"/>
            <a:ext cx="5400900" cy="5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Обробка HTTP-запитів від мобільного застосунку та передача запитів до сервісного шару. Координує взаємодію між клієнтською та серверною частинами застосунку.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g3f4358d70bb_0_183"/>
          <p:cNvSpPr/>
          <p:nvPr/>
        </p:nvSpPr>
        <p:spPr>
          <a:xfrm>
            <a:off x="395804" y="2519394"/>
            <a:ext cx="5737200" cy="868800"/>
          </a:xfrm>
          <a:prstGeom prst="rect">
            <a:avLst/>
          </a:prstGeom>
          <a:solidFill>
            <a:srgbClr val="B7E4C8"/>
          </a:solidFill>
          <a:ln cap="flat" cmpd="sng" w="12700">
            <a:solidFill>
              <a:srgbClr val="B7E4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g3f4358d70bb_0_183"/>
          <p:cNvSpPr/>
          <p:nvPr/>
        </p:nvSpPr>
        <p:spPr>
          <a:xfrm>
            <a:off x="587842" y="2587760"/>
            <a:ext cx="5400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B4332"/>
                </a:solidFill>
                <a:latin typeface="Arial"/>
                <a:ea typeface="Arial"/>
                <a:cs typeface="Arial"/>
                <a:sym typeface="Arial"/>
              </a:rPr>
              <a:t>Service Layer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g3f4358d70bb_0_183"/>
          <p:cNvSpPr/>
          <p:nvPr/>
        </p:nvSpPr>
        <p:spPr>
          <a:xfrm>
            <a:off x="587841" y="2931745"/>
            <a:ext cx="54009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Бізнес-логіка системи (планування походів, обробка GPS-треків тощо). Координує взаємодію між контролерами та шаром доступу до даних.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g3f4358d70bb_0_183"/>
          <p:cNvSpPr/>
          <p:nvPr/>
        </p:nvSpPr>
        <p:spPr>
          <a:xfrm>
            <a:off x="395804" y="3515216"/>
            <a:ext cx="5737200" cy="749700"/>
          </a:xfrm>
          <a:prstGeom prst="rect">
            <a:avLst/>
          </a:prstGeom>
          <a:solidFill>
            <a:srgbClr val="D8F3DC"/>
          </a:solidFill>
          <a:ln cap="flat" cmpd="sng" w="12700">
            <a:solidFill>
              <a:srgbClr val="D8F3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g3f4358d70bb_0_183"/>
          <p:cNvSpPr/>
          <p:nvPr/>
        </p:nvSpPr>
        <p:spPr>
          <a:xfrm>
            <a:off x="587841" y="3591849"/>
            <a:ext cx="522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B4332"/>
                </a:solidFill>
                <a:latin typeface="Arial"/>
                <a:ea typeface="Arial"/>
                <a:cs typeface="Arial"/>
                <a:sym typeface="Arial"/>
              </a:rPr>
              <a:t>Repository Layer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g3f4358d70bb_0_183"/>
          <p:cNvSpPr/>
          <p:nvPr/>
        </p:nvSpPr>
        <p:spPr>
          <a:xfrm>
            <a:off x="587841" y="3909710"/>
            <a:ext cx="54009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Репозиторії Spring Data JPA. Відповідає за взаємодію із базою даних PostgreSQL.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f4358d70bb_0_200"/>
          <p:cNvSpPr txBox="1"/>
          <p:nvPr/>
        </p:nvSpPr>
        <p:spPr>
          <a:xfrm>
            <a:off x="8778240" y="4606349"/>
            <a:ext cx="284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g3f4358d70bb_0_200"/>
          <p:cNvSpPr txBox="1"/>
          <p:nvPr>
            <p:ph type="title"/>
          </p:nvPr>
        </p:nvSpPr>
        <p:spPr>
          <a:xfrm>
            <a:off x="311700" y="0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Архітектура клієнтської частини</a:t>
            </a:r>
            <a:endParaRPr sz="2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g3f4358d70bb_0_200"/>
          <p:cNvSpPr/>
          <p:nvPr/>
        </p:nvSpPr>
        <p:spPr>
          <a:xfrm>
            <a:off x="311700" y="824732"/>
            <a:ext cx="4903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B4332"/>
                </a:solidFill>
                <a:latin typeface="Arial"/>
                <a:ea typeface="Arial"/>
                <a:cs typeface="Arial"/>
                <a:sym typeface="Arial"/>
              </a:rPr>
              <a:t>Архітектура MVVM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g3f4358d70bb_0_200"/>
          <p:cNvSpPr/>
          <p:nvPr/>
        </p:nvSpPr>
        <p:spPr>
          <a:xfrm>
            <a:off x="311700" y="1175488"/>
            <a:ext cx="4903800" cy="884700"/>
          </a:xfrm>
          <a:prstGeom prst="rect">
            <a:avLst/>
          </a:prstGeom>
          <a:solidFill>
            <a:srgbClr val="D8F3DC"/>
          </a:solidFill>
          <a:ln cap="flat" cmpd="sng" w="12700">
            <a:solidFill>
              <a:srgbClr val="D8F3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g3f4358d70bb_0_200"/>
          <p:cNvSpPr/>
          <p:nvPr/>
        </p:nvSpPr>
        <p:spPr>
          <a:xfrm>
            <a:off x="451805" y="1248640"/>
            <a:ext cx="4580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B4332"/>
                </a:solidFill>
                <a:latin typeface="Arial"/>
                <a:ea typeface="Arial"/>
                <a:cs typeface="Arial"/>
                <a:sym typeface="Arial"/>
              </a:rPr>
              <a:t>View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g3f4358d70bb_0_200"/>
          <p:cNvSpPr/>
          <p:nvPr/>
        </p:nvSpPr>
        <p:spPr>
          <a:xfrm>
            <a:off x="451805" y="1541249"/>
            <a:ext cx="4580700" cy="4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Composable-компоненти Jetpack Compose, що відображають дані користувачу та не містять бізнес-логіки.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g3f4358d70bb_0_200"/>
          <p:cNvSpPr/>
          <p:nvPr/>
        </p:nvSpPr>
        <p:spPr>
          <a:xfrm>
            <a:off x="311700" y="2150278"/>
            <a:ext cx="4903800" cy="1005900"/>
          </a:xfrm>
          <a:prstGeom prst="rect">
            <a:avLst/>
          </a:prstGeom>
          <a:solidFill>
            <a:srgbClr val="B7E4C8"/>
          </a:solidFill>
          <a:ln cap="flat" cmpd="sng" w="12700">
            <a:solidFill>
              <a:srgbClr val="B7E4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g3f4358d70bb_0_200"/>
          <p:cNvSpPr/>
          <p:nvPr/>
        </p:nvSpPr>
        <p:spPr>
          <a:xfrm>
            <a:off x="451805" y="2206350"/>
            <a:ext cx="4580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B4332"/>
                </a:solidFill>
                <a:latin typeface="Arial"/>
                <a:ea typeface="Arial"/>
                <a:cs typeface="Arial"/>
                <a:sym typeface="Arial"/>
              </a:rPr>
              <a:t>ViewModel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g3f4358d70bb_0_200"/>
          <p:cNvSpPr/>
          <p:nvPr/>
        </p:nvSpPr>
        <p:spPr>
          <a:xfrm>
            <a:off x="451805" y="2498958"/>
            <a:ext cx="4580700" cy="6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Керує станом екрана та обробляє дії користувача. Передає стан через StateFlow / State, який автоматично оновлює composable-компоненти у шарі View.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g3f4358d70bb_0_200"/>
          <p:cNvSpPr/>
          <p:nvPr/>
        </p:nvSpPr>
        <p:spPr>
          <a:xfrm>
            <a:off x="311700" y="3246349"/>
            <a:ext cx="4903800" cy="1005900"/>
          </a:xfrm>
          <a:prstGeom prst="rect">
            <a:avLst/>
          </a:prstGeom>
          <a:solidFill>
            <a:srgbClr val="D8F3DC"/>
          </a:solidFill>
          <a:ln cap="flat" cmpd="sng" w="12700">
            <a:solidFill>
              <a:srgbClr val="D8F3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g3f4358d70bb_0_200"/>
          <p:cNvSpPr/>
          <p:nvPr/>
        </p:nvSpPr>
        <p:spPr>
          <a:xfrm>
            <a:off x="451805" y="3319501"/>
            <a:ext cx="4580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B4332"/>
                </a:solidFill>
                <a:latin typeface="Arial"/>
                <a:ea typeface="Arial"/>
                <a:cs typeface="Arial"/>
                <a:sym typeface="Arial"/>
              </a:rPr>
              <a:t>Model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g3f4358d70bb_0_200"/>
          <p:cNvSpPr/>
          <p:nvPr/>
        </p:nvSpPr>
        <p:spPr>
          <a:xfrm>
            <a:off x="451805" y="3612109"/>
            <a:ext cx="4580700" cy="6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Доменні сутності застосунку (маршрут, трек, користувач тощо). Логіка роботи з даними: репозиторії, джерела даних, взаємодія з мережею та локальним кешем.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diagram of a model&#10;&#10;AI-generated content may be incorrect." id="178" name="Google Shape;178;g3f4358d70bb_0_20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04485" y="792236"/>
            <a:ext cx="3190875" cy="40192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9"/>
          <p:cNvSpPr/>
          <p:nvPr/>
        </p:nvSpPr>
        <p:spPr>
          <a:xfrm>
            <a:off x="457200" y="109728"/>
            <a:ext cx="713232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i="0" lang="en-US" sz="2800" u="none" cap="none" strike="noStrike">
                <a:solidFill>
                  <a:schemeClr val="dk1"/>
                </a:solidFill>
              </a:rPr>
              <a:t>Структура зберігання даних</a:t>
            </a:r>
            <a:endParaRPr i="0" sz="2800" u="none" cap="none" strike="noStrike">
              <a:solidFill>
                <a:schemeClr val="dk1"/>
              </a:solidFill>
            </a:endParaRPr>
          </a:p>
        </p:txBody>
      </p:sp>
      <p:sp>
        <p:nvSpPr>
          <p:cNvPr id="185" name="Google Shape;185;p9"/>
          <p:cNvSpPr/>
          <p:nvPr/>
        </p:nvSpPr>
        <p:spPr>
          <a:xfrm>
            <a:off x="8295180" y="4573378"/>
            <a:ext cx="731400" cy="69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B788"/>
              </a:buClr>
              <a:buSzPts val="1600"/>
              <a:buFont typeface="Arial"/>
              <a:buNone/>
            </a:pPr>
            <a:r>
              <a:rPr i="0" lang="en-US" sz="1600" u="none" cap="none" strike="noStrike">
                <a:solidFill>
                  <a:schemeClr val="dk1"/>
                </a:solidFill>
              </a:rPr>
              <a:t>10</a:t>
            </a:r>
            <a:endParaRPr i="0" sz="1600" u="none" cap="none" strike="noStrike">
              <a:solidFill>
                <a:schemeClr val="dk1"/>
              </a:solidFill>
            </a:endParaRPr>
          </a:p>
        </p:txBody>
      </p:sp>
      <p:pic>
        <p:nvPicPr>
          <p:cNvPr id="186" name="Google Shape;186;p9" title="e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4450" y="804675"/>
            <a:ext cx="7284010" cy="4205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f4358d70bb_0_270"/>
          <p:cNvSpPr txBox="1"/>
          <p:nvPr/>
        </p:nvSpPr>
        <p:spPr>
          <a:xfrm>
            <a:off x="8651055" y="4722625"/>
            <a:ext cx="438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g3f4358d70bb_0_270"/>
          <p:cNvSpPr/>
          <p:nvPr/>
        </p:nvSpPr>
        <p:spPr>
          <a:xfrm>
            <a:off x="404944" y="855623"/>
            <a:ext cx="39318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B4332"/>
                </a:solidFill>
                <a:latin typeface="Arial"/>
                <a:ea typeface="Arial"/>
                <a:cs typeface="Arial"/>
                <a:sym typeface="Arial"/>
              </a:rPr>
              <a:t>UI/UX підхід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g3f4358d70bb_0_270"/>
          <p:cNvSpPr/>
          <p:nvPr/>
        </p:nvSpPr>
        <p:spPr>
          <a:xfrm>
            <a:off x="404944" y="1395119"/>
            <a:ext cx="146400" cy="146400"/>
          </a:xfrm>
          <a:prstGeom prst="ellipse">
            <a:avLst/>
          </a:prstGeom>
          <a:solidFill>
            <a:srgbClr val="52B788"/>
          </a:solidFill>
          <a:ln cap="flat" cmpd="sng" w="12700">
            <a:solidFill>
              <a:srgbClr val="52B7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g3f4358d70bb_0_270"/>
          <p:cNvSpPr/>
          <p:nvPr/>
        </p:nvSpPr>
        <p:spPr>
          <a:xfrm>
            <a:off x="640364" y="1285391"/>
            <a:ext cx="3712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Ітеративний підхід в проєктуванні: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вайрфрейми </a:t>
            </a:r>
            <a:r>
              <a:rPr i="0" lang="en-US" sz="1200" u="none" cap="none" strike="noStrike">
                <a:solidFill>
                  <a:schemeClr val="dk1"/>
                </a:solidFill>
              </a:rPr>
              <a:t>→</a:t>
            </a: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фінальний дизайн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g3f4358d70bb_0_270"/>
          <p:cNvSpPr/>
          <p:nvPr/>
        </p:nvSpPr>
        <p:spPr>
          <a:xfrm>
            <a:off x="404944" y="1857397"/>
            <a:ext cx="146400" cy="146400"/>
          </a:xfrm>
          <a:prstGeom prst="ellipse">
            <a:avLst/>
          </a:prstGeom>
          <a:solidFill>
            <a:srgbClr val="52B788"/>
          </a:solidFill>
          <a:ln cap="flat" cmpd="sng" w="12700">
            <a:solidFill>
              <a:srgbClr val="52B7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g3f4358d70bb_0_270"/>
          <p:cNvSpPr/>
          <p:nvPr/>
        </p:nvSpPr>
        <p:spPr>
          <a:xfrm>
            <a:off x="640364" y="1765812"/>
            <a:ext cx="3745200" cy="31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Інтуїтивність та простота інтерфейсу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g3f4358d70bb_0_270"/>
          <p:cNvSpPr/>
          <p:nvPr/>
        </p:nvSpPr>
        <p:spPr>
          <a:xfrm>
            <a:off x="404944" y="2319675"/>
            <a:ext cx="146400" cy="146400"/>
          </a:xfrm>
          <a:prstGeom prst="ellipse">
            <a:avLst/>
          </a:prstGeom>
          <a:solidFill>
            <a:srgbClr val="52B788"/>
          </a:solidFill>
          <a:ln cap="flat" cmpd="sng" w="12700">
            <a:solidFill>
              <a:srgbClr val="52B7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g3f4358d70bb_0_270"/>
          <p:cNvSpPr/>
          <p:nvPr/>
        </p:nvSpPr>
        <p:spPr>
          <a:xfrm>
            <a:off x="640364" y="2191804"/>
            <a:ext cx="3712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Контрастність інтерфейсу для використання на відкритій місцевості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g3f4358d70bb_0_270"/>
          <p:cNvSpPr/>
          <p:nvPr/>
        </p:nvSpPr>
        <p:spPr>
          <a:xfrm>
            <a:off x="404944" y="2781952"/>
            <a:ext cx="146400" cy="146400"/>
          </a:xfrm>
          <a:prstGeom prst="ellipse">
            <a:avLst/>
          </a:prstGeom>
          <a:solidFill>
            <a:srgbClr val="52B788"/>
          </a:solidFill>
          <a:ln cap="flat" cmpd="sng" w="12700">
            <a:solidFill>
              <a:srgbClr val="52B7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g3f4358d70bb_0_270"/>
          <p:cNvSpPr/>
          <p:nvPr/>
        </p:nvSpPr>
        <p:spPr>
          <a:xfrm>
            <a:off x="640364" y="2672224"/>
            <a:ext cx="3712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Стандартна навігація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g3f4358d70bb_0_270"/>
          <p:cNvSpPr/>
          <p:nvPr/>
        </p:nvSpPr>
        <p:spPr>
          <a:xfrm>
            <a:off x="4717303" y="826549"/>
            <a:ext cx="1737300" cy="37797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 cap="flat" cmpd="sng" w="9525">
            <a:solidFill>
              <a:srgbClr val="F2F2F2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g3f4358d70bb_0_270"/>
          <p:cNvSpPr/>
          <p:nvPr/>
        </p:nvSpPr>
        <p:spPr>
          <a:xfrm>
            <a:off x="6835102" y="836898"/>
            <a:ext cx="1737300" cy="37764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 cap="flat" cmpd="sng" w="9525">
            <a:solidFill>
              <a:srgbClr val="F2F2F2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g3f4358d70bb_0_270"/>
          <p:cNvSpPr txBox="1"/>
          <p:nvPr>
            <p:ph type="title"/>
          </p:nvPr>
        </p:nvSpPr>
        <p:spPr>
          <a:xfrm>
            <a:off x="311700" y="0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Дизайн системи</a:t>
            </a:r>
            <a:endParaRPr sz="2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f4358d70bb_0_287"/>
          <p:cNvSpPr txBox="1"/>
          <p:nvPr/>
        </p:nvSpPr>
        <p:spPr>
          <a:xfrm>
            <a:off x="8634556" y="4731575"/>
            <a:ext cx="42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g3f4358d70bb_0_287"/>
          <p:cNvSpPr txBox="1"/>
          <p:nvPr>
            <p:ph type="title"/>
          </p:nvPr>
        </p:nvSpPr>
        <p:spPr>
          <a:xfrm>
            <a:off x="311700" y="0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Приклад реалізації</a:t>
            </a:r>
            <a:endParaRPr sz="2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g3f4358d70bb_0_287"/>
          <p:cNvSpPr/>
          <p:nvPr/>
        </p:nvSpPr>
        <p:spPr>
          <a:xfrm>
            <a:off x="5387275" y="831300"/>
            <a:ext cx="2887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Пошук найближчих маршрутів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1" name="Google Shape;211;g3f4358d70bb_0_287" title="back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59655" y="1289307"/>
            <a:ext cx="3943051" cy="337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g3f4358d70bb_0_287" title="example-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1289301"/>
            <a:ext cx="4240749" cy="291190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g3f4358d70bb_0_287"/>
          <p:cNvSpPr/>
          <p:nvPr/>
        </p:nvSpPr>
        <p:spPr>
          <a:xfrm>
            <a:off x="988175" y="831300"/>
            <a:ext cx="3226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Пошук </a:t>
            </a:r>
            <a:r>
              <a:rPr b="1" lang="en-US">
                <a:solidFill>
                  <a:schemeClr val="dk1"/>
                </a:solidFill>
              </a:rPr>
              <a:t>рекомендованих</a:t>
            </a: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маршрутів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f4358d70bb_0_349"/>
          <p:cNvSpPr/>
          <p:nvPr/>
        </p:nvSpPr>
        <p:spPr>
          <a:xfrm>
            <a:off x="6534" y="1987977"/>
            <a:ext cx="2743200" cy="1214700"/>
          </a:xfrm>
          <a:prstGeom prst="rect">
            <a:avLst/>
          </a:prstGeom>
          <a:solidFill>
            <a:srgbClr val="1B4332"/>
          </a:solidFill>
          <a:ln cap="flat" cmpd="sng" w="12700">
            <a:solidFill>
              <a:srgbClr val="1B43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g3f4358d70bb_0_349"/>
          <p:cNvSpPr txBox="1"/>
          <p:nvPr/>
        </p:nvSpPr>
        <p:spPr>
          <a:xfrm>
            <a:off x="8597399" y="4606350"/>
            <a:ext cx="465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g3f4358d70bb_0_349"/>
          <p:cNvSpPr txBox="1"/>
          <p:nvPr>
            <p:ph type="title"/>
          </p:nvPr>
        </p:nvSpPr>
        <p:spPr>
          <a:xfrm>
            <a:off x="311700" y="0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Інтерфейс користувача</a:t>
            </a:r>
            <a:endParaRPr sz="2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g3f4358d70bb_0_349"/>
          <p:cNvSpPr/>
          <p:nvPr/>
        </p:nvSpPr>
        <p:spPr>
          <a:xfrm>
            <a:off x="209008" y="2059822"/>
            <a:ext cx="2854200" cy="10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Реєстрація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Авторизація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g3f4358d70bb_0_349"/>
          <p:cNvSpPr/>
          <p:nvPr/>
        </p:nvSpPr>
        <p:spPr>
          <a:xfrm rot="5400000">
            <a:off x="2167925" y="2581678"/>
            <a:ext cx="1214700" cy="27300"/>
          </a:xfrm>
          <a:prstGeom prst="rect">
            <a:avLst/>
          </a:prstGeom>
          <a:solidFill>
            <a:srgbClr val="52B788"/>
          </a:solidFill>
          <a:ln cap="flat" cmpd="sng" w="12700">
            <a:solidFill>
              <a:srgbClr val="52B7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3" name="Google Shape;223;g3f4358d70bb_0_349" title="auth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87826" y="809575"/>
            <a:ext cx="1930033" cy="4059925"/>
          </a:xfrm>
          <a:prstGeom prst="rect">
            <a:avLst/>
          </a:prstGeom>
          <a:solidFill>
            <a:srgbClr val="F3F4F6"/>
          </a:solidFill>
          <a:ln cap="flat" cmpd="sng" w="25400">
            <a:solidFill>
              <a:srgbClr val="6B728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24" name="Google Shape;224;g3f4358d70bb_0_349" title="sign-up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00792" y="835527"/>
            <a:ext cx="1930050" cy="4004545"/>
          </a:xfrm>
          <a:prstGeom prst="rect">
            <a:avLst/>
          </a:prstGeom>
          <a:solidFill>
            <a:srgbClr val="F3F4F6"/>
          </a:solidFill>
          <a:ln cap="flat" cmpd="sng" w="25400">
            <a:solidFill>
              <a:srgbClr val="6B728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4"/>
          <p:cNvSpPr/>
          <p:nvPr/>
        </p:nvSpPr>
        <p:spPr>
          <a:xfrm>
            <a:off x="7560695" y="4620295"/>
            <a:ext cx="23775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B788"/>
              </a:buClr>
              <a:buSzPts val="1600"/>
              <a:buFont typeface="Arial"/>
              <a:buNone/>
            </a:pPr>
            <a:r>
              <a:rPr i="0" lang="en-US" sz="1600" u="none" cap="none" strike="noStrike">
                <a:solidFill>
                  <a:schemeClr val="dk1"/>
                </a:solidFill>
              </a:rPr>
              <a:t>14</a:t>
            </a:r>
            <a:endParaRPr i="0" sz="1600" u="none" cap="none" strike="noStrike">
              <a:solidFill>
                <a:schemeClr val="dk1"/>
              </a:solidFill>
            </a:endParaRPr>
          </a:p>
        </p:txBody>
      </p:sp>
      <p:pic>
        <p:nvPicPr>
          <p:cNvPr id="231" name="Google Shape;231;p14" title="homescree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05375" y="831299"/>
            <a:ext cx="1878534" cy="3979352"/>
          </a:xfrm>
          <a:prstGeom prst="rect">
            <a:avLst/>
          </a:prstGeom>
          <a:solidFill>
            <a:srgbClr val="F3F4F6"/>
          </a:solidFill>
          <a:ln cap="flat" cmpd="sng" w="24825">
            <a:solidFill>
              <a:srgbClr val="6B728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32" name="Google Shape;232;p14" title="route-overview-ne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50212" y="837069"/>
            <a:ext cx="1878533" cy="3967813"/>
          </a:xfrm>
          <a:prstGeom prst="rect">
            <a:avLst/>
          </a:prstGeom>
          <a:solidFill>
            <a:srgbClr val="F3F4F6"/>
          </a:solidFill>
          <a:ln cap="flat" cmpd="sng" w="24825">
            <a:solidFill>
              <a:srgbClr val="6B728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33" name="Google Shape;233;p14"/>
          <p:cNvSpPr/>
          <p:nvPr/>
        </p:nvSpPr>
        <p:spPr>
          <a:xfrm>
            <a:off x="6395880" y="1964327"/>
            <a:ext cx="2743200" cy="1214700"/>
          </a:xfrm>
          <a:prstGeom prst="rect">
            <a:avLst/>
          </a:prstGeom>
          <a:solidFill>
            <a:srgbClr val="1B4332"/>
          </a:solidFill>
          <a:ln cap="flat" cmpd="sng" w="12700">
            <a:solidFill>
              <a:srgbClr val="1B43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14"/>
          <p:cNvSpPr/>
          <p:nvPr/>
        </p:nvSpPr>
        <p:spPr>
          <a:xfrm>
            <a:off x="6611587" y="2042703"/>
            <a:ext cx="2423400" cy="10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Маршрути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4"/>
          <p:cNvSpPr/>
          <p:nvPr/>
        </p:nvSpPr>
        <p:spPr>
          <a:xfrm rot="5400000">
            <a:off x="5774881" y="2558026"/>
            <a:ext cx="1214700" cy="27300"/>
          </a:xfrm>
          <a:prstGeom prst="rect">
            <a:avLst/>
          </a:prstGeom>
          <a:solidFill>
            <a:srgbClr val="52B788"/>
          </a:solidFill>
          <a:ln cap="flat" cmpd="sng" w="12700">
            <a:solidFill>
              <a:srgbClr val="52B7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14"/>
          <p:cNvSpPr txBox="1"/>
          <p:nvPr>
            <p:ph type="title"/>
          </p:nvPr>
        </p:nvSpPr>
        <p:spPr>
          <a:xfrm>
            <a:off x="311700" y="0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Інтерфейс користувача</a:t>
            </a:r>
            <a:endParaRPr sz="2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5"/>
          <p:cNvSpPr/>
          <p:nvPr/>
        </p:nvSpPr>
        <p:spPr>
          <a:xfrm>
            <a:off x="7641190" y="4535220"/>
            <a:ext cx="23775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B788"/>
              </a:buClr>
              <a:buSzPts val="1600"/>
              <a:buFont typeface="Arial"/>
              <a:buNone/>
            </a:pPr>
            <a:r>
              <a:rPr i="0" lang="en-US" sz="1600" u="none" cap="none" strike="noStrike">
                <a:solidFill>
                  <a:schemeClr val="dk1"/>
                </a:solidFill>
              </a:rPr>
              <a:t>15</a:t>
            </a:r>
            <a:endParaRPr i="0" sz="1600" u="none" cap="none" strike="noStrike">
              <a:solidFill>
                <a:schemeClr val="dk1"/>
              </a:solidFill>
            </a:endParaRPr>
          </a:p>
        </p:txBody>
      </p:sp>
      <p:pic>
        <p:nvPicPr>
          <p:cNvPr id="243" name="Google Shape;243;p15" title="navigation-n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82063" y="668825"/>
            <a:ext cx="1914324" cy="4200201"/>
          </a:xfrm>
          <a:prstGeom prst="rect">
            <a:avLst/>
          </a:prstGeom>
          <a:solidFill>
            <a:srgbClr val="F3F4F6"/>
          </a:solidFill>
          <a:ln cap="flat" cmpd="sng" w="25400">
            <a:solidFill>
              <a:srgbClr val="6B728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44" name="Google Shape;244;p15" title="finished-route-ne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20525" y="655220"/>
            <a:ext cx="1914300" cy="4227404"/>
          </a:xfrm>
          <a:prstGeom prst="rect">
            <a:avLst/>
          </a:prstGeom>
          <a:solidFill>
            <a:srgbClr val="F3F4F6"/>
          </a:solidFill>
          <a:ln cap="flat" cmpd="sng" w="25400">
            <a:solidFill>
              <a:srgbClr val="6B728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45" name="Google Shape;245;p15"/>
          <p:cNvSpPr/>
          <p:nvPr/>
        </p:nvSpPr>
        <p:spPr>
          <a:xfrm>
            <a:off x="6533" y="1987977"/>
            <a:ext cx="2743200" cy="1214700"/>
          </a:xfrm>
          <a:prstGeom prst="rect">
            <a:avLst/>
          </a:prstGeom>
          <a:solidFill>
            <a:srgbClr val="1B4332"/>
          </a:solidFill>
          <a:ln cap="flat" cmpd="sng" w="12700">
            <a:solidFill>
              <a:srgbClr val="1B43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15"/>
          <p:cNvSpPr/>
          <p:nvPr/>
        </p:nvSpPr>
        <p:spPr>
          <a:xfrm>
            <a:off x="209008" y="2059822"/>
            <a:ext cx="2854200" cy="10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Походи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5"/>
          <p:cNvSpPr/>
          <p:nvPr/>
        </p:nvSpPr>
        <p:spPr>
          <a:xfrm rot="5400000">
            <a:off x="2158710" y="2577620"/>
            <a:ext cx="1214700" cy="27300"/>
          </a:xfrm>
          <a:prstGeom prst="rect">
            <a:avLst/>
          </a:prstGeom>
          <a:solidFill>
            <a:srgbClr val="52B788"/>
          </a:solidFill>
          <a:ln cap="flat" cmpd="sng" w="12700">
            <a:solidFill>
              <a:srgbClr val="52B7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15"/>
          <p:cNvSpPr txBox="1"/>
          <p:nvPr>
            <p:ph type="title"/>
          </p:nvPr>
        </p:nvSpPr>
        <p:spPr>
          <a:xfrm>
            <a:off x="311700" y="0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Інтерфейс користувача</a:t>
            </a:r>
            <a:endParaRPr sz="2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6"/>
          <p:cNvSpPr/>
          <p:nvPr/>
        </p:nvSpPr>
        <p:spPr>
          <a:xfrm>
            <a:off x="7650145" y="4643820"/>
            <a:ext cx="23775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B788"/>
              </a:buClr>
              <a:buSzPts val="1600"/>
              <a:buFont typeface="Arial"/>
              <a:buNone/>
            </a:pPr>
            <a:r>
              <a:rPr i="0" lang="en-US" sz="1600" u="none" cap="none" strike="noStrike">
                <a:solidFill>
                  <a:schemeClr val="dk1"/>
                </a:solidFill>
              </a:rPr>
              <a:t>16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5" name="Google Shape;255;p16" title="sos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29624" y="1325975"/>
            <a:ext cx="2205225" cy="1929575"/>
          </a:xfrm>
          <a:prstGeom prst="rect">
            <a:avLst/>
          </a:prstGeom>
          <a:solidFill>
            <a:srgbClr val="F3F4F6"/>
          </a:solidFill>
          <a:ln cap="flat" cmpd="sng" w="25400">
            <a:solidFill>
              <a:srgbClr val="6B728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56" name="Google Shape;256;p16" title="profile-ne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36025" y="751258"/>
            <a:ext cx="1828800" cy="3892566"/>
          </a:xfrm>
          <a:prstGeom prst="rect">
            <a:avLst/>
          </a:prstGeom>
          <a:solidFill>
            <a:srgbClr val="F3F4F6"/>
          </a:solidFill>
          <a:ln cap="flat" cmpd="sng" w="25400">
            <a:solidFill>
              <a:srgbClr val="6B728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57" name="Google Shape;257;p16"/>
          <p:cNvSpPr txBox="1"/>
          <p:nvPr>
            <p:ph type="title"/>
          </p:nvPr>
        </p:nvSpPr>
        <p:spPr>
          <a:xfrm>
            <a:off x="311700" y="0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Інтерфейс користувача</a:t>
            </a:r>
            <a:endParaRPr sz="2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16"/>
          <p:cNvSpPr/>
          <p:nvPr/>
        </p:nvSpPr>
        <p:spPr>
          <a:xfrm>
            <a:off x="6395880" y="1964327"/>
            <a:ext cx="2743200" cy="1214700"/>
          </a:xfrm>
          <a:prstGeom prst="rect">
            <a:avLst/>
          </a:prstGeom>
          <a:solidFill>
            <a:srgbClr val="1B4332"/>
          </a:solidFill>
          <a:ln cap="flat" cmpd="sng" w="12700">
            <a:solidFill>
              <a:srgbClr val="1B43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16"/>
          <p:cNvSpPr/>
          <p:nvPr/>
        </p:nvSpPr>
        <p:spPr>
          <a:xfrm>
            <a:off x="6611587" y="2042703"/>
            <a:ext cx="2423400" cy="10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Профіль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16"/>
          <p:cNvSpPr/>
          <p:nvPr/>
        </p:nvSpPr>
        <p:spPr>
          <a:xfrm rot="5400000">
            <a:off x="5774881" y="2558026"/>
            <a:ext cx="1214700" cy="27300"/>
          </a:xfrm>
          <a:prstGeom prst="rect">
            <a:avLst/>
          </a:prstGeom>
          <a:solidFill>
            <a:srgbClr val="52B788"/>
          </a:solidFill>
          <a:ln cap="flat" cmpd="sng" w="12700">
            <a:solidFill>
              <a:srgbClr val="52B7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5" name="Google Shape;265;g3f4358d70bb_0_4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g3f4358d70bb_0_425"/>
          <p:cNvSpPr txBox="1"/>
          <p:nvPr/>
        </p:nvSpPr>
        <p:spPr>
          <a:xfrm>
            <a:off x="8445337" y="4635700"/>
            <a:ext cx="617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g3f4358d70bb_0_425"/>
          <p:cNvSpPr txBox="1"/>
          <p:nvPr>
            <p:ph type="title"/>
          </p:nvPr>
        </p:nvSpPr>
        <p:spPr>
          <a:xfrm>
            <a:off x="311700" y="0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Тестування</a:t>
            </a:r>
            <a:endParaRPr sz="2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g3f4358d70bb_0_425"/>
          <p:cNvSpPr/>
          <p:nvPr/>
        </p:nvSpPr>
        <p:spPr>
          <a:xfrm>
            <a:off x="4671780" y="806836"/>
            <a:ext cx="18300" cy="3749100"/>
          </a:xfrm>
          <a:prstGeom prst="rect">
            <a:avLst/>
          </a:prstGeom>
          <a:solidFill>
            <a:srgbClr val="E5E7EB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g3f4358d70bb_0_425"/>
          <p:cNvSpPr/>
          <p:nvPr/>
        </p:nvSpPr>
        <p:spPr>
          <a:xfrm>
            <a:off x="371923" y="908942"/>
            <a:ext cx="3840600" cy="365700"/>
          </a:xfrm>
          <a:prstGeom prst="rect">
            <a:avLst/>
          </a:prstGeom>
          <a:solidFill>
            <a:srgbClr val="D8F3DC"/>
          </a:solidFill>
          <a:ln cap="flat" cmpd="sng" w="12700">
            <a:solidFill>
              <a:srgbClr val="D8F3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g3f4358d70bb_0_425"/>
          <p:cNvSpPr/>
          <p:nvPr/>
        </p:nvSpPr>
        <p:spPr>
          <a:xfrm>
            <a:off x="417643" y="908942"/>
            <a:ext cx="3749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200"/>
              <a:buFont typeface="Arial"/>
              <a:buNone/>
            </a:pPr>
            <a:r>
              <a:rPr b="1" i="0" lang="en-US" sz="1400" u="none" cap="none" strike="noStrike">
                <a:solidFill>
                  <a:srgbClr val="1B4332"/>
                </a:solidFill>
                <a:latin typeface="Arial"/>
                <a:ea typeface="Arial"/>
                <a:cs typeface="Arial"/>
                <a:sym typeface="Arial"/>
              </a:rPr>
              <a:t>Юніт-тестування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g3f4358d70bb_0_425"/>
          <p:cNvSpPr/>
          <p:nvPr/>
        </p:nvSpPr>
        <p:spPr>
          <a:xfrm>
            <a:off x="371923" y="1303005"/>
            <a:ext cx="3840600" cy="4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JUnit 6 та Mockito для перевірки бізнес-логіки серверної частини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g3f4358d70bb_0_425"/>
          <p:cNvSpPr/>
          <p:nvPr/>
        </p:nvSpPr>
        <p:spPr>
          <a:xfrm>
            <a:off x="371923" y="1847289"/>
            <a:ext cx="3840600" cy="365700"/>
          </a:xfrm>
          <a:prstGeom prst="rect">
            <a:avLst/>
          </a:prstGeom>
          <a:solidFill>
            <a:srgbClr val="D8F3DC"/>
          </a:solidFill>
          <a:ln cap="flat" cmpd="sng" w="12700">
            <a:solidFill>
              <a:srgbClr val="D8F3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g3f4358d70bb_0_425"/>
          <p:cNvSpPr/>
          <p:nvPr/>
        </p:nvSpPr>
        <p:spPr>
          <a:xfrm>
            <a:off x="417643" y="1847289"/>
            <a:ext cx="3749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200"/>
              <a:buFont typeface="Arial"/>
              <a:buNone/>
            </a:pPr>
            <a:r>
              <a:rPr b="1" i="0" lang="en-US" sz="1400" u="none" cap="none" strike="noStrike">
                <a:solidFill>
                  <a:srgbClr val="1B4332"/>
                </a:solidFill>
                <a:latin typeface="Arial"/>
                <a:ea typeface="Arial"/>
                <a:cs typeface="Arial"/>
                <a:sym typeface="Arial"/>
              </a:rPr>
              <a:t>Тестування REST API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g3f4358d70bb_0_425"/>
          <p:cNvSpPr/>
          <p:nvPr/>
        </p:nvSpPr>
        <p:spPr>
          <a:xfrm>
            <a:off x="371923" y="2252234"/>
            <a:ext cx="3840600" cy="4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Перевірка REST API ендпоінтів та авторизації за допомогою Postman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g3f4358d70bb_0_425"/>
          <p:cNvSpPr/>
          <p:nvPr/>
        </p:nvSpPr>
        <p:spPr>
          <a:xfrm>
            <a:off x="371923" y="2853129"/>
            <a:ext cx="3840600" cy="365700"/>
          </a:xfrm>
          <a:prstGeom prst="rect">
            <a:avLst/>
          </a:prstGeom>
          <a:solidFill>
            <a:srgbClr val="D8F3DC"/>
          </a:solidFill>
          <a:ln cap="flat" cmpd="sng" w="12700">
            <a:solidFill>
              <a:srgbClr val="D8F3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g3f4358d70bb_0_425"/>
          <p:cNvSpPr/>
          <p:nvPr/>
        </p:nvSpPr>
        <p:spPr>
          <a:xfrm>
            <a:off x="417643" y="2853129"/>
            <a:ext cx="3749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200"/>
              <a:buFont typeface="Arial"/>
              <a:buNone/>
            </a:pPr>
            <a:r>
              <a:rPr b="1" i="0" lang="en-US" sz="1400" u="none" cap="none" strike="noStrike">
                <a:solidFill>
                  <a:srgbClr val="1B4332"/>
                </a:solidFill>
                <a:latin typeface="Arial"/>
                <a:ea typeface="Arial"/>
                <a:cs typeface="Arial"/>
                <a:sym typeface="Arial"/>
              </a:rPr>
              <a:t>Мануальне тестування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g3f4358d70bb_0_425"/>
          <p:cNvSpPr/>
          <p:nvPr/>
        </p:nvSpPr>
        <p:spPr>
          <a:xfrm>
            <a:off x="371923" y="3258074"/>
            <a:ext cx="3840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Arial"/>
              <a:buNone/>
            </a:pPr>
            <a:r>
              <a:rPr b="0" i="0" lang="en-US" sz="1200" u="none" cap="none" strike="noStrik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Функціональне тестування Android-застосунку на реальному пристрої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g3f4358d70bb_0_425"/>
          <p:cNvSpPr/>
          <p:nvPr/>
        </p:nvSpPr>
        <p:spPr>
          <a:xfrm>
            <a:off x="4900380" y="852556"/>
            <a:ext cx="39318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B4332"/>
                </a:solidFill>
                <a:latin typeface="Arial"/>
                <a:ea typeface="Arial"/>
                <a:cs typeface="Arial"/>
                <a:sym typeface="Arial"/>
              </a:rPr>
              <a:t>Результати мануальних тестів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g3f4358d70bb_0_425"/>
          <p:cNvSpPr/>
          <p:nvPr/>
        </p:nvSpPr>
        <p:spPr>
          <a:xfrm>
            <a:off x="4900380" y="1328044"/>
            <a:ext cx="3931800" cy="530400"/>
          </a:xfrm>
          <a:prstGeom prst="rect">
            <a:avLst/>
          </a:prstGeom>
          <a:solidFill>
            <a:srgbClr val="F0FDF4"/>
          </a:solidFill>
          <a:ln cap="flat" cmpd="sng" w="9525">
            <a:solidFill>
              <a:srgbClr val="D1FA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g3f4358d70bb_0_425"/>
          <p:cNvSpPr/>
          <p:nvPr/>
        </p:nvSpPr>
        <p:spPr>
          <a:xfrm>
            <a:off x="4964388" y="1479137"/>
            <a:ext cx="237600" cy="237600"/>
          </a:xfrm>
          <a:prstGeom prst="ellipse">
            <a:avLst/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g3f4358d70bb_0_425"/>
          <p:cNvSpPr/>
          <p:nvPr/>
        </p:nvSpPr>
        <p:spPr>
          <a:xfrm>
            <a:off x="4964388" y="1465204"/>
            <a:ext cx="2376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g3f4358d70bb_0_425"/>
          <p:cNvSpPr/>
          <p:nvPr/>
        </p:nvSpPr>
        <p:spPr>
          <a:xfrm>
            <a:off x="5266140" y="1346332"/>
            <a:ext cx="34929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Arial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Реєстрація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g3f4358d70bb_0_425"/>
          <p:cNvSpPr/>
          <p:nvPr/>
        </p:nvSpPr>
        <p:spPr>
          <a:xfrm>
            <a:off x="4900380" y="1949836"/>
            <a:ext cx="3931800" cy="530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1FA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g3f4358d70bb_0_425"/>
          <p:cNvSpPr/>
          <p:nvPr/>
        </p:nvSpPr>
        <p:spPr>
          <a:xfrm>
            <a:off x="4964388" y="2090044"/>
            <a:ext cx="237600" cy="237600"/>
          </a:xfrm>
          <a:prstGeom prst="ellipse">
            <a:avLst/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g3f4358d70bb_0_425"/>
          <p:cNvSpPr/>
          <p:nvPr/>
        </p:nvSpPr>
        <p:spPr>
          <a:xfrm>
            <a:off x="4964388" y="2086996"/>
            <a:ext cx="2376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g3f4358d70bb_0_425"/>
          <p:cNvSpPr/>
          <p:nvPr/>
        </p:nvSpPr>
        <p:spPr>
          <a:xfrm>
            <a:off x="5266140" y="1968124"/>
            <a:ext cx="34929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Arial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Авторизація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g3f4358d70bb_0_425"/>
          <p:cNvSpPr/>
          <p:nvPr/>
        </p:nvSpPr>
        <p:spPr>
          <a:xfrm>
            <a:off x="4900380" y="2571628"/>
            <a:ext cx="3931800" cy="530400"/>
          </a:xfrm>
          <a:prstGeom prst="rect">
            <a:avLst/>
          </a:prstGeom>
          <a:solidFill>
            <a:srgbClr val="F0FDF4"/>
          </a:solidFill>
          <a:ln cap="flat" cmpd="sng" w="9525">
            <a:solidFill>
              <a:srgbClr val="D1FA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g3f4358d70bb_0_425"/>
          <p:cNvSpPr/>
          <p:nvPr/>
        </p:nvSpPr>
        <p:spPr>
          <a:xfrm>
            <a:off x="4964388" y="2700950"/>
            <a:ext cx="237600" cy="237600"/>
          </a:xfrm>
          <a:prstGeom prst="ellipse">
            <a:avLst/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g3f4358d70bb_0_425"/>
          <p:cNvSpPr/>
          <p:nvPr/>
        </p:nvSpPr>
        <p:spPr>
          <a:xfrm>
            <a:off x="4964388" y="2708788"/>
            <a:ext cx="2376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g3f4358d70bb_0_425"/>
          <p:cNvSpPr/>
          <p:nvPr/>
        </p:nvSpPr>
        <p:spPr>
          <a:xfrm>
            <a:off x="5266140" y="2589916"/>
            <a:ext cx="34929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Arial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Створення маршруту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g3f4358d70bb_0_425"/>
          <p:cNvSpPr/>
          <p:nvPr/>
        </p:nvSpPr>
        <p:spPr>
          <a:xfrm>
            <a:off x="4900380" y="3193420"/>
            <a:ext cx="3931800" cy="530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1FA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g3f4358d70bb_0_425"/>
          <p:cNvSpPr/>
          <p:nvPr/>
        </p:nvSpPr>
        <p:spPr>
          <a:xfrm>
            <a:off x="4964388" y="3322742"/>
            <a:ext cx="237600" cy="237600"/>
          </a:xfrm>
          <a:prstGeom prst="ellipse">
            <a:avLst/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g3f4358d70bb_0_425"/>
          <p:cNvSpPr/>
          <p:nvPr/>
        </p:nvSpPr>
        <p:spPr>
          <a:xfrm>
            <a:off x="4964388" y="3330580"/>
            <a:ext cx="2376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g3f4358d70bb_0_425"/>
          <p:cNvSpPr/>
          <p:nvPr/>
        </p:nvSpPr>
        <p:spPr>
          <a:xfrm>
            <a:off x="5266140" y="3211708"/>
            <a:ext cx="34929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Arial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Перегляд та фільтрація маршрутів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g3f4358d70bb_0_425"/>
          <p:cNvSpPr/>
          <p:nvPr/>
        </p:nvSpPr>
        <p:spPr>
          <a:xfrm>
            <a:off x="4900380" y="3815212"/>
            <a:ext cx="3931800" cy="530400"/>
          </a:xfrm>
          <a:prstGeom prst="rect">
            <a:avLst/>
          </a:prstGeom>
          <a:solidFill>
            <a:srgbClr val="F0FDF4"/>
          </a:solidFill>
          <a:ln cap="flat" cmpd="sng" w="9525">
            <a:solidFill>
              <a:srgbClr val="D1FA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g3f4358d70bb_0_425"/>
          <p:cNvSpPr/>
          <p:nvPr/>
        </p:nvSpPr>
        <p:spPr>
          <a:xfrm>
            <a:off x="4964388" y="3955420"/>
            <a:ext cx="237600" cy="237600"/>
          </a:xfrm>
          <a:prstGeom prst="ellipse">
            <a:avLst/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g3f4358d70bb_0_425"/>
          <p:cNvSpPr/>
          <p:nvPr/>
        </p:nvSpPr>
        <p:spPr>
          <a:xfrm>
            <a:off x="4964388" y="3952372"/>
            <a:ext cx="2376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g3f4358d70bb_0_425"/>
          <p:cNvSpPr/>
          <p:nvPr/>
        </p:nvSpPr>
        <p:spPr>
          <a:xfrm>
            <a:off x="5266140" y="3833500"/>
            <a:ext cx="34929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Запис проходження маршруту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3" name="Google Shape;303;g3f4358d70bb_0_4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g3f4358d70bb_0_462"/>
          <p:cNvSpPr txBox="1"/>
          <p:nvPr/>
        </p:nvSpPr>
        <p:spPr>
          <a:xfrm>
            <a:off x="8508760" y="4617825"/>
            <a:ext cx="553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g3f4358d70bb_0_462"/>
          <p:cNvSpPr txBox="1"/>
          <p:nvPr>
            <p:ph type="title"/>
          </p:nvPr>
        </p:nvSpPr>
        <p:spPr>
          <a:xfrm>
            <a:off x="311700" y="0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Підсумки</a:t>
            </a:r>
            <a:endParaRPr sz="2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g3f4358d70bb_0_462"/>
          <p:cNvSpPr/>
          <p:nvPr/>
        </p:nvSpPr>
        <p:spPr>
          <a:xfrm>
            <a:off x="324762" y="783390"/>
            <a:ext cx="8229600" cy="493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g3f4358d70bb_0_462"/>
          <p:cNvSpPr/>
          <p:nvPr/>
        </p:nvSpPr>
        <p:spPr>
          <a:xfrm>
            <a:off x="553362" y="783390"/>
            <a:ext cx="79554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Проаналізовано предметну галузь туристичних мобільних застосунків. Визначено основні потреби користувачів.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g3f4358d70bb_0_462"/>
          <p:cNvSpPr/>
          <p:nvPr/>
        </p:nvSpPr>
        <p:spPr>
          <a:xfrm>
            <a:off x="324762" y="1341174"/>
            <a:ext cx="8229600" cy="493800"/>
          </a:xfrm>
          <a:prstGeom prst="rect">
            <a:avLst/>
          </a:prstGeom>
          <a:solidFill>
            <a:srgbClr val="D8F3DC"/>
          </a:solidFill>
          <a:ln cap="flat" cmpd="sng" w="9525">
            <a:solidFill>
              <a:srgbClr val="D8F3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g3f4358d70bb_0_462"/>
          <p:cNvSpPr/>
          <p:nvPr/>
        </p:nvSpPr>
        <p:spPr>
          <a:xfrm>
            <a:off x="553362" y="1341174"/>
            <a:ext cx="79554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Сформовано функціональні та нефункціональні вимоги до програмної системи.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g3f4358d70bb_0_462"/>
          <p:cNvSpPr/>
          <p:nvPr/>
        </p:nvSpPr>
        <p:spPr>
          <a:xfrm>
            <a:off x="324762" y="1898958"/>
            <a:ext cx="8229600" cy="493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g3f4358d70bb_0_462"/>
          <p:cNvSpPr/>
          <p:nvPr/>
        </p:nvSpPr>
        <p:spPr>
          <a:xfrm>
            <a:off x="553362" y="1898958"/>
            <a:ext cx="79554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Визначено архітектуру програмної системи.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g3f4358d70bb_0_462"/>
          <p:cNvSpPr/>
          <p:nvPr/>
        </p:nvSpPr>
        <p:spPr>
          <a:xfrm>
            <a:off x="324762" y="2456742"/>
            <a:ext cx="8229600" cy="493800"/>
          </a:xfrm>
          <a:prstGeom prst="rect">
            <a:avLst/>
          </a:prstGeom>
          <a:solidFill>
            <a:srgbClr val="D8F3DC"/>
          </a:solidFill>
          <a:ln cap="flat" cmpd="sng" w="9525">
            <a:solidFill>
              <a:srgbClr val="D8F3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g3f4358d70bb_0_462"/>
          <p:cNvSpPr/>
          <p:nvPr/>
        </p:nvSpPr>
        <p:spPr>
          <a:xfrm>
            <a:off x="553362" y="2456742"/>
            <a:ext cx="79554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Розроблено серверну частину на Java + Spring Boot із використанням KeyCloak для автентифікації та PostgreSQL як БД.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g3f4358d70bb_0_462"/>
          <p:cNvSpPr/>
          <p:nvPr/>
        </p:nvSpPr>
        <p:spPr>
          <a:xfrm>
            <a:off x="324762" y="3014526"/>
            <a:ext cx="8229600" cy="493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g3f4358d70bb_0_462"/>
          <p:cNvSpPr/>
          <p:nvPr/>
        </p:nvSpPr>
        <p:spPr>
          <a:xfrm>
            <a:off x="553362" y="3014526"/>
            <a:ext cx="79554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g3f4358d70bb_0_462"/>
          <p:cNvSpPr/>
          <p:nvPr/>
        </p:nvSpPr>
        <p:spPr>
          <a:xfrm>
            <a:off x="324762" y="3572310"/>
            <a:ext cx="8229600" cy="493800"/>
          </a:xfrm>
          <a:prstGeom prst="rect">
            <a:avLst/>
          </a:prstGeom>
          <a:solidFill>
            <a:srgbClr val="D8F3DC"/>
          </a:solidFill>
          <a:ln cap="flat" cmpd="sng" w="9525">
            <a:solidFill>
              <a:srgbClr val="D8F3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g3f4358d70bb_0_462"/>
          <p:cNvSpPr/>
          <p:nvPr/>
        </p:nvSpPr>
        <p:spPr>
          <a:xfrm>
            <a:off x="553362" y="3589594"/>
            <a:ext cx="79554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Система пройшла тестування. Усі ключові сценарії успішно перевірено.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g3f4358d70bb_0_462"/>
          <p:cNvSpPr/>
          <p:nvPr/>
        </p:nvSpPr>
        <p:spPr>
          <a:xfrm>
            <a:off x="553362" y="3023168"/>
            <a:ext cx="79554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Реалізовано Android-застосунок на Kotlin + Jetpack Compose, інтерфейс базується на інтерактивній мапі OpenStreetMap.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2026-06-29T15:41:03Z</dcterms:created>
  <dc:creator>Roman Kryvko</dc:creator>
</cp:coreProperties>
</file>